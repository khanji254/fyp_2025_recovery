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745" r:id="rId1"/>
  </p:sldMasterIdLst>
  <p:notesMasterIdLst>
    <p:notesMasterId r:id="rId17"/>
  </p:notesMasterIdLst>
  <p:handoutMasterIdLst>
    <p:handoutMasterId r:id="rId18"/>
  </p:handoutMasterIdLst>
  <p:sldIdLst>
    <p:sldId id="770" r:id="rId2"/>
    <p:sldId id="761" r:id="rId3"/>
    <p:sldId id="776" r:id="rId4"/>
    <p:sldId id="783" r:id="rId5"/>
    <p:sldId id="781" r:id="rId6"/>
    <p:sldId id="784" r:id="rId7"/>
    <p:sldId id="787" r:id="rId8"/>
    <p:sldId id="774" r:id="rId9"/>
    <p:sldId id="785" r:id="rId10"/>
    <p:sldId id="786" r:id="rId11"/>
    <p:sldId id="788" r:id="rId12"/>
    <p:sldId id="777" r:id="rId13"/>
    <p:sldId id="779" r:id="rId14"/>
    <p:sldId id="780" r:id="rId15"/>
    <p:sldId id="636" r:id="rId16"/>
  </p:sldIdLst>
  <p:sldSz cx="9906000" cy="6858000" type="A4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0">
          <p15:clr>
            <a:srgbClr val="A4A3A4"/>
          </p15:clr>
        </p15:guide>
        <p15:guide id="3" orient="horz" pos="2160" userDrawn="1">
          <p15:clr>
            <a:srgbClr val="A4A3A4"/>
          </p15:clr>
        </p15:guide>
        <p15:guide id="5" pos="6158">
          <p15:clr>
            <a:srgbClr val="A4A3A4"/>
          </p15:clr>
        </p15:guide>
        <p15:guide id="6" pos="3120" userDrawn="1">
          <p15:clr>
            <a:srgbClr val="A4A3A4"/>
          </p15:clr>
        </p15:guide>
        <p15:guide id="7" orient="horz" pos="360" userDrawn="1">
          <p15:clr>
            <a:srgbClr val="A4A3A4"/>
          </p15:clr>
        </p15:guide>
        <p15:guide id="9" orient="horz" pos="3725" userDrawn="1">
          <p15:clr>
            <a:srgbClr val="A4A3A4"/>
          </p15:clr>
        </p15:guide>
        <p15:guide id="10" orient="horz" pos="527" userDrawn="1">
          <p15:clr>
            <a:srgbClr val="A4A3A4"/>
          </p15:clr>
        </p15:guide>
        <p15:guide id="12" pos="81" userDrawn="1">
          <p15:clr>
            <a:srgbClr val="A4A3A4"/>
          </p15:clr>
        </p15:guide>
        <p15:guide id="13" orient="horz" pos="696" userDrawn="1">
          <p15:clr>
            <a:srgbClr val="A4A3A4"/>
          </p15:clr>
        </p15:guide>
        <p15:guide id="14" pos="2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5">
          <p15:clr>
            <a:srgbClr val="A4A3A4"/>
          </p15:clr>
        </p15:guide>
        <p15:guide id="2" pos="3107">
          <p15:clr>
            <a:srgbClr val="A4A3A4"/>
          </p15:clr>
        </p15:guide>
        <p15:guide id="3" orient="horz" pos="3129">
          <p15:clr>
            <a:srgbClr val="A4A3A4"/>
          </p15:clr>
        </p15:guide>
        <p15:guide id="4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5EFAA"/>
    <a:srgbClr val="FF9900"/>
    <a:srgbClr val="99FF33"/>
    <a:srgbClr val="00339A"/>
    <a:srgbClr val="0066CC"/>
    <a:srgbClr val="C0C0C0"/>
    <a:srgbClr val="FF9966"/>
    <a:srgbClr val="9966FF"/>
    <a:srgbClr val="0066F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ittlere Formatvorlage 4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6237" autoAdjust="0"/>
  </p:normalViewPr>
  <p:slideViewPr>
    <p:cSldViewPr snapToGrid="0">
      <p:cViewPr varScale="1">
        <p:scale>
          <a:sx n="106" d="100"/>
          <a:sy n="106" d="100"/>
        </p:scale>
        <p:origin x="1548" y="108"/>
      </p:cViewPr>
      <p:guideLst>
        <p:guide orient="horz" pos="210"/>
        <p:guide orient="horz" pos="2160"/>
        <p:guide pos="6158"/>
        <p:guide pos="3120"/>
        <p:guide orient="horz" pos="360"/>
        <p:guide orient="horz" pos="3725"/>
        <p:guide orient="horz" pos="527"/>
        <p:guide pos="81"/>
        <p:guide orient="horz" pos="696"/>
        <p:guide pos="262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2442" y="-654"/>
      </p:cViewPr>
      <p:guideLst>
        <p:guide orient="horz" pos="2125"/>
        <p:guide pos="3107"/>
        <p:guide orient="horz" pos="3129"/>
        <p:guide pos="214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72066" y="325035"/>
            <a:ext cx="2919401" cy="210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811075" eaLnBrk="0" hangingPunct="0">
              <a:defRPr sz="1000">
                <a:cs typeface="+mn-cs"/>
              </a:defRPr>
            </a:lvl1pPr>
          </a:lstStyle>
          <a:p>
            <a:pPr>
              <a:defRPr/>
            </a:pPr>
            <a:r>
              <a:rPr lang="en-US" altLang="zh-CN"/>
              <a:t>Fan Zhang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648327" y="325035"/>
            <a:ext cx="1681716" cy="210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defTabSz="811075" eaLnBrk="0" hangingPunct="0">
              <a:defRPr sz="1000">
                <a:cs typeface="+mn-cs"/>
              </a:defRPr>
            </a:lvl1pPr>
          </a:lstStyle>
          <a:p>
            <a:pPr>
              <a:defRPr/>
            </a:pPr>
            <a:fld id="{2D05B061-EE4C-4181-816F-60B96C748CB4}" type="datetime1">
              <a:rPr lang="en-US" altLang="zh-CN"/>
              <a:pPr>
                <a:defRPr/>
              </a:pPr>
              <a:t>3/2/2026</a:t>
            </a:fld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72068" y="9443963"/>
            <a:ext cx="1610907" cy="303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811075" eaLnBrk="0" hangingPunct="0">
              <a:defRPr sz="1000">
                <a:cs typeface="+mn-cs"/>
              </a:defRPr>
            </a:lvl1pPr>
          </a:lstStyle>
          <a:p>
            <a:pPr>
              <a:defRPr/>
            </a:pPr>
            <a:r>
              <a:rPr lang="en-US" altLang="zh-CN"/>
              <a:t>MathMod 09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720611" y="9443963"/>
            <a:ext cx="1609433" cy="303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defTabSz="811075" eaLnBrk="0" hangingPunct="0">
              <a:defRPr sz="1000">
                <a:cs typeface="+mn-cs"/>
              </a:defRPr>
            </a:lvl1pPr>
          </a:lstStyle>
          <a:p>
            <a:pPr>
              <a:defRPr/>
            </a:pPr>
            <a:fld id="{44B3A6AD-722C-46DB-B8B3-4767173EA5D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1750" name="Line 7"/>
          <p:cNvSpPr>
            <a:spLocks noChangeShapeType="1"/>
          </p:cNvSpPr>
          <p:nvPr/>
        </p:nvSpPr>
        <p:spPr bwMode="auto">
          <a:xfrm>
            <a:off x="472062" y="505604"/>
            <a:ext cx="585798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783" tIns="45893" rIns="91783" bIns="45893" anchor="ctr"/>
          <a:lstStyle/>
          <a:p>
            <a:endParaRPr lang="de-DE"/>
          </a:p>
        </p:txBody>
      </p:sp>
      <p:sp>
        <p:nvSpPr>
          <p:cNvPr id="31751" name="Line 8"/>
          <p:cNvSpPr>
            <a:spLocks noChangeShapeType="1"/>
          </p:cNvSpPr>
          <p:nvPr/>
        </p:nvSpPr>
        <p:spPr bwMode="auto">
          <a:xfrm>
            <a:off x="470586" y="9435754"/>
            <a:ext cx="585650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783" tIns="45893" rIns="91783" bIns="45893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829461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761202" y="321752"/>
            <a:ext cx="2914975" cy="290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811075" eaLnBrk="0" hangingPunct="0">
              <a:spcBef>
                <a:spcPct val="0"/>
              </a:spcBef>
              <a:buClrTx/>
              <a:buFontTx/>
              <a:buNone/>
              <a:defRPr sz="1000">
                <a:cs typeface="+mn-cs"/>
              </a:defRPr>
            </a:lvl1pPr>
          </a:lstStyle>
          <a:p>
            <a:pPr>
              <a:defRPr/>
            </a:pPr>
            <a:r>
              <a:rPr lang="en-US"/>
              <a:t>fan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260354" y="321752"/>
            <a:ext cx="1761375" cy="290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defTabSz="811075" eaLnBrk="0" hangingPunct="0">
              <a:defRPr sz="1000">
                <a:cs typeface="+mn-cs"/>
              </a:defRPr>
            </a:lvl1pPr>
          </a:lstStyle>
          <a:p>
            <a:pPr>
              <a:defRPr/>
            </a:pPr>
            <a:fld id="{74221EFF-C0F3-4410-95F4-58A4207C516B}" type="datetime1">
              <a:rPr lang="en-US" altLang="zh-CN"/>
              <a:pPr>
                <a:defRPr/>
              </a:pPr>
              <a:t>3/2/2026</a:t>
            </a:fld>
            <a:endParaRPr lang="en-US" altLang="zh-CN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761202" y="9443963"/>
            <a:ext cx="2914975" cy="303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811075" eaLnBrk="0" hangingPunct="0">
              <a:spcBef>
                <a:spcPct val="0"/>
              </a:spcBef>
              <a:buClrTx/>
              <a:buFontTx/>
              <a:buNone/>
              <a:defRPr sz="1000">
                <a:cs typeface="+mn-cs"/>
              </a:defRPr>
            </a:lvl1pPr>
          </a:lstStyle>
          <a:p>
            <a:pPr>
              <a:defRPr/>
            </a:pPr>
            <a:r>
              <a:rPr lang="en-US"/>
              <a:t>Werk Untertürkheim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83644" y="9442324"/>
            <a:ext cx="1838087" cy="346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defTabSz="811075" eaLnBrk="0" hangingPunct="0">
              <a:defRPr sz="1000">
                <a:cs typeface="+mn-cs"/>
              </a:defRPr>
            </a:lvl1pPr>
          </a:lstStyle>
          <a:p>
            <a:pPr>
              <a:defRPr/>
            </a:pPr>
            <a:fld id="{8911E235-AA05-4F59-8EC8-23B4619EC7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1204" y="5257960"/>
            <a:ext cx="5260527" cy="3787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Klicken Sie, um die Formate des Vorlagentextes zu bearbeiten</a:t>
            </a:r>
          </a:p>
          <a:p>
            <a:pPr lvl="1"/>
            <a:r>
              <a:rPr lang="en-US" altLang="zh-CN" noProof="0"/>
              <a:t>Zweite Ebene</a:t>
            </a:r>
          </a:p>
          <a:p>
            <a:pPr lvl="2"/>
            <a:r>
              <a:rPr lang="en-US" altLang="zh-CN" noProof="0"/>
              <a:t>Dritte Ebene</a:t>
            </a:r>
          </a:p>
          <a:p>
            <a:pPr lvl="3"/>
            <a:r>
              <a:rPr lang="en-US" altLang="zh-CN" noProof="0"/>
              <a:t>Vierte Ebene</a:t>
            </a:r>
          </a:p>
          <a:p>
            <a:pPr lvl="4"/>
            <a:r>
              <a:rPr lang="en-US" altLang="zh-CN" noProof="0"/>
              <a:t>Fünfte Ebene</a:t>
            </a:r>
          </a:p>
        </p:txBody>
      </p:sp>
      <p:sp>
        <p:nvSpPr>
          <p:cNvPr id="2458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20725" y="1014413"/>
            <a:ext cx="5357813" cy="370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4" name="Line 9"/>
          <p:cNvSpPr>
            <a:spLocks noChangeShapeType="1"/>
          </p:cNvSpPr>
          <p:nvPr/>
        </p:nvSpPr>
        <p:spPr bwMode="auto">
          <a:xfrm>
            <a:off x="761204" y="515452"/>
            <a:ext cx="526052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783" tIns="45893" rIns="91783" bIns="45893" anchor="ctr"/>
          <a:lstStyle/>
          <a:p>
            <a:endParaRPr lang="de-DE"/>
          </a:p>
        </p:txBody>
      </p:sp>
      <p:sp>
        <p:nvSpPr>
          <p:cNvPr id="24585" name="Line 10"/>
          <p:cNvSpPr>
            <a:spLocks noChangeShapeType="1"/>
          </p:cNvSpPr>
          <p:nvPr/>
        </p:nvSpPr>
        <p:spPr bwMode="auto">
          <a:xfrm>
            <a:off x="761204" y="9435754"/>
            <a:ext cx="526052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783" tIns="45893" rIns="91783" bIns="45893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728831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76200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1588" algn="l" defTabSz="76200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3175" algn="l" defTabSz="76200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4763" algn="l" defTabSz="76200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6350" algn="l" defTabSz="76200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 txBox="1">
            <a:spLocks noGrp="1" noChangeArrowheads="1"/>
          </p:cNvSpPr>
          <p:nvPr/>
        </p:nvSpPr>
        <p:spPr bwMode="auto">
          <a:xfrm>
            <a:off x="4260354" y="321752"/>
            <a:ext cx="1761375" cy="290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808038" eaLnBrk="0" hangingPunct="0"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defTabSz="808038" eaLnBrk="0" hangingPunct="0"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defTabSz="808038" eaLnBrk="0" hangingPunct="0"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defTabSz="808038" eaLnBrk="0" hangingPunct="0"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defTabSz="808038" eaLnBrk="0" hangingPunct="0"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defTabSz="80803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defTabSz="80803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defTabSz="80803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defTabSz="80803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r"/>
            <a:fld id="{BA89DE42-73D8-4EB6-A7E9-3567880E7B4D}" type="datetime1">
              <a:rPr lang="en-US" altLang="zh-CN" sz="1000"/>
              <a:pPr algn="r"/>
              <a:t>3/2/2026</a:t>
            </a:fld>
            <a:endParaRPr lang="en-US" altLang="zh-CN" sz="1000" dirty="0"/>
          </a:p>
        </p:txBody>
      </p:sp>
      <p:sp>
        <p:nvSpPr>
          <p:cNvPr id="26627" name="Rectangle 5"/>
          <p:cNvSpPr txBox="1">
            <a:spLocks noGrp="1" noChangeArrowheads="1"/>
          </p:cNvSpPr>
          <p:nvPr/>
        </p:nvSpPr>
        <p:spPr bwMode="auto">
          <a:xfrm>
            <a:off x="4183644" y="9442324"/>
            <a:ext cx="1838087" cy="346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808038" eaLnBrk="0" hangingPunct="0"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defTabSz="808038" eaLnBrk="0" hangingPunct="0"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defTabSz="808038" eaLnBrk="0" hangingPunct="0"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defTabSz="808038" eaLnBrk="0" hangingPunct="0"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defTabSz="808038" eaLnBrk="0" hangingPunct="0"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defTabSz="80803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defTabSz="80803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defTabSz="80803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defTabSz="80803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r"/>
            <a:fld id="{5C120066-EC2B-4589-98D7-50AF69685A5E}" type="slidenum">
              <a:rPr lang="en-US" altLang="zh-CN" sz="1000"/>
              <a:pPr algn="r"/>
              <a:t>1</a:t>
            </a:fld>
            <a:endParaRPr lang="en-US" altLang="zh-CN" sz="1000" dirty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9138" y="1057275"/>
            <a:ext cx="5365750" cy="3714750"/>
          </a:xfrm>
          <a:ln/>
        </p:spPr>
      </p:sp>
    </p:spTree>
    <p:extLst>
      <p:ext uri="{BB962C8B-B14F-4D97-AF65-F5344CB8AC3E}">
        <p14:creationId xmlns:p14="http://schemas.microsoft.com/office/powerpoint/2010/main" val="3852555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51"/>
          <p:cNvSpPr>
            <a:spLocks noChangeArrowheads="1"/>
          </p:cNvSpPr>
          <p:nvPr/>
        </p:nvSpPr>
        <p:spPr bwMode="auto">
          <a:xfrm>
            <a:off x="274638" y="184150"/>
            <a:ext cx="9358312" cy="647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/>
            </a:pPr>
            <a:endParaRPr lang="de-DE" altLang="zh-CN">
              <a:ea typeface="SimSun" pitchFamily="2" charset="-122"/>
            </a:endParaRPr>
          </a:p>
        </p:txBody>
      </p:sp>
      <p:sp>
        <p:nvSpPr>
          <p:cNvPr id="3" name="Oval 2078"/>
          <p:cNvSpPr>
            <a:spLocks noChangeArrowheads="1"/>
          </p:cNvSpPr>
          <p:nvPr/>
        </p:nvSpPr>
        <p:spPr bwMode="auto">
          <a:xfrm>
            <a:off x="1501775" y="2652713"/>
            <a:ext cx="3114675" cy="388937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/>
            </a:pPr>
            <a:endParaRPr lang="de-DE" altLang="zh-CN" sz="1800">
              <a:ea typeface="SimSun" pitchFamily="2" charset="-122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 userDrawn="1"/>
        </p:nvSpPr>
        <p:spPr bwMode="auto">
          <a:xfrm>
            <a:off x="2553144" y="4320578"/>
            <a:ext cx="4810887" cy="13388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l">
              <a:spcBef>
                <a:spcPts val="600"/>
              </a:spcBef>
              <a:buFont typeface="Verdana" pitchFamily="34" charset="0"/>
              <a:buNone/>
              <a:defRPr/>
            </a:pPr>
            <a:r>
              <a:rPr lang="en-US" sz="1800" b="0" dirty="0">
                <a:cs typeface="Arial" pitchFamily="34" charset="0"/>
              </a:rPr>
              <a:t>ENM221-0149/2021 – Glenn Kanyi</a:t>
            </a:r>
          </a:p>
          <a:p>
            <a:pPr algn="l">
              <a:spcBef>
                <a:spcPts val="600"/>
              </a:spcBef>
              <a:buFont typeface="Verdana" pitchFamily="34" charset="0"/>
              <a:buNone/>
              <a:defRPr/>
            </a:pPr>
            <a:r>
              <a:rPr lang="en-US" sz="1800" b="0" dirty="0">
                <a:cs typeface="Arial" pitchFamily="34" charset="0"/>
              </a:rPr>
              <a:t>ENM221-0249/2021 – Ian Joseph</a:t>
            </a:r>
          </a:p>
          <a:p>
            <a:pPr algn="l">
              <a:spcBef>
                <a:spcPts val="600"/>
              </a:spcBef>
              <a:buFont typeface="Verdana" pitchFamily="34" charset="0"/>
              <a:buNone/>
              <a:defRPr/>
            </a:pPr>
            <a:endParaRPr lang="en-US" sz="1800" b="0" dirty="0">
              <a:cs typeface="Arial" pitchFamily="34" charset="0"/>
            </a:endParaRPr>
          </a:p>
          <a:p>
            <a:pPr algn="ctr">
              <a:spcBef>
                <a:spcPts val="600"/>
              </a:spcBef>
              <a:buFont typeface="Verdana" pitchFamily="34" charset="0"/>
              <a:buNone/>
              <a:defRPr/>
            </a:pPr>
            <a:r>
              <a:rPr lang="en-US" sz="1800" b="0" dirty="0"/>
              <a:t>23.1.2026</a:t>
            </a:r>
            <a:endParaRPr lang="en-US" altLang="zh-CN" sz="1800" b="0" dirty="0">
              <a:ea typeface="SimSun" pitchFamily="2" charset="-122"/>
              <a:cs typeface="+mn-cs"/>
            </a:endParaRPr>
          </a:p>
        </p:txBody>
      </p:sp>
      <p:sp>
        <p:nvSpPr>
          <p:cNvPr id="17" name="Rounded Rectangle 11"/>
          <p:cNvSpPr/>
          <p:nvPr userDrawn="1"/>
        </p:nvSpPr>
        <p:spPr>
          <a:xfrm>
            <a:off x="0" y="-5326"/>
            <a:ext cx="9906000" cy="2025502"/>
          </a:xfrm>
          <a:prstGeom prst="roundRect">
            <a:avLst>
              <a:gd name="adj" fmla="val 7136"/>
            </a:avLst>
          </a:prstGeom>
          <a:gradFill>
            <a:gsLst>
              <a:gs pos="0">
                <a:srgbClr val="92D050"/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5"/>
          <p:cNvGrpSpPr>
            <a:grpSpLocks noChangeAspect="1"/>
          </p:cNvGrpSpPr>
          <p:nvPr userDrawn="1"/>
        </p:nvGrpSpPr>
        <p:grpSpPr bwMode="hidden">
          <a:xfrm>
            <a:off x="5556" y="527395"/>
            <a:ext cx="9906000" cy="1809049"/>
            <a:chOff x="-3905251" y="4294188"/>
            <a:chExt cx="13401519" cy="1892300"/>
          </a:xfrm>
        </p:grpSpPr>
        <p:sp>
          <p:nvSpPr>
            <p:cNvPr id="19" name="Freeform 14"/>
            <p:cNvSpPr>
              <a:spLocks/>
            </p:cNvSpPr>
            <p:nvPr/>
          </p:nvSpPr>
          <p:spPr bwMode="hidden">
            <a:xfrm>
              <a:off x="4810125" y="4500563"/>
              <a:ext cx="4510033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3" name="Freeform 10"/>
            <p:cNvSpPr>
              <a:spLocks/>
            </p:cNvSpPr>
            <p:nvPr/>
          </p:nvSpPr>
          <p:spPr bwMode="hidden">
            <a:xfrm>
              <a:off x="-3905251" y="4294188"/>
              <a:ext cx="1340151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4" name="Freeform 9"/>
          <p:cNvSpPr>
            <a:spLocks/>
          </p:cNvSpPr>
          <p:nvPr userDrawn="1"/>
        </p:nvSpPr>
        <p:spPr bwMode="auto">
          <a:xfrm flipV="1">
            <a:off x="-9526" y="5816600"/>
            <a:ext cx="9915526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Freeform 10"/>
          <p:cNvSpPr>
            <a:spLocks/>
          </p:cNvSpPr>
          <p:nvPr userDrawn="1"/>
        </p:nvSpPr>
        <p:spPr bwMode="auto">
          <a:xfrm flipV="1">
            <a:off x="4232636" y="6251944"/>
            <a:ext cx="5673363" cy="610464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 Box 2"/>
          <p:cNvSpPr txBox="1">
            <a:spLocks noChangeArrowheads="1"/>
          </p:cNvSpPr>
          <p:nvPr userDrawn="1"/>
        </p:nvSpPr>
        <p:spPr bwMode="auto">
          <a:xfrm>
            <a:off x="2124073" y="5877078"/>
            <a:ext cx="5648325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>
              <a:spcBef>
                <a:spcPts val="600"/>
              </a:spcBef>
              <a:buFont typeface="Verdana" pitchFamily="34" charset="0"/>
              <a:buNone/>
              <a:defRPr/>
            </a:pPr>
            <a:r>
              <a:rPr lang="en-US" altLang="zh-CN" sz="1800" b="0" i="1" baseline="0" dirty="0">
                <a:ea typeface="SimSun" pitchFamily="2" charset="-122"/>
                <a:cs typeface="Arial" pitchFamily="34" charset="0"/>
              </a:rPr>
              <a:t>Department of Mechatronic Engineering, JKUAT</a:t>
            </a:r>
            <a:endParaRPr lang="en-US" altLang="zh-CN" sz="1800" b="0" i="1" dirty="0">
              <a:ea typeface="SimSun" pitchFamily="2" charset="-122"/>
              <a:cs typeface="+mn-cs"/>
            </a:endParaRPr>
          </a:p>
        </p:txBody>
      </p:sp>
      <p:sp>
        <p:nvSpPr>
          <p:cNvPr id="6" name="Text Box 2"/>
          <p:cNvSpPr txBox="1">
            <a:spLocks noChangeArrowheads="1"/>
          </p:cNvSpPr>
          <p:nvPr userDrawn="1"/>
        </p:nvSpPr>
        <p:spPr bwMode="auto">
          <a:xfrm>
            <a:off x="80963" y="1767093"/>
            <a:ext cx="9732962" cy="1800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>
              <a:spcBef>
                <a:spcPts val="600"/>
              </a:spcBef>
              <a:buFont typeface="Verdana" pitchFamily="34" charset="0"/>
              <a:buNone/>
              <a:defRPr/>
            </a:pPr>
            <a:r>
              <a:rPr lang="en-US" sz="2800" b="1" dirty="0"/>
              <a:t>Design and Development of a Reliable Dual Recovery System with Extended Range Telemetry for the Nakuja N4 Rocket </a:t>
            </a:r>
            <a:r>
              <a:rPr lang="en-US" sz="2800" b="1" baseline="0" dirty="0">
                <a:cs typeface="Arial" pitchFamily="34" charset="0"/>
              </a:rPr>
              <a:t> </a:t>
            </a:r>
            <a:r>
              <a:rPr lang="en-US" sz="2800" b="1" dirty="0"/>
              <a:t>	</a:t>
            </a:r>
          </a:p>
          <a:p>
            <a:pPr algn="ctr">
              <a:spcBef>
                <a:spcPts val="600"/>
              </a:spcBef>
              <a:buFont typeface="Verdana" pitchFamily="34" charset="0"/>
              <a:buNone/>
              <a:defRPr/>
            </a:pPr>
            <a:r>
              <a:rPr lang="en-US" sz="2800" b="0" dirty="0"/>
              <a:t>FYP-22-4</a:t>
            </a:r>
            <a:endParaRPr lang="de-DE" sz="2800" b="0" dirty="0"/>
          </a:p>
        </p:txBody>
      </p:sp>
      <p:sp>
        <p:nvSpPr>
          <p:cNvPr id="16" name="Text Box 2"/>
          <p:cNvSpPr txBox="1">
            <a:spLocks noChangeArrowheads="1"/>
          </p:cNvSpPr>
          <p:nvPr userDrawn="1"/>
        </p:nvSpPr>
        <p:spPr bwMode="auto">
          <a:xfrm>
            <a:off x="92075" y="3720894"/>
            <a:ext cx="9732962" cy="30777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>
              <a:spcBef>
                <a:spcPts val="600"/>
              </a:spcBef>
              <a:buFont typeface="Verdana" pitchFamily="34" charset="0"/>
              <a:buNone/>
              <a:defRPr/>
            </a:pPr>
            <a:r>
              <a:rPr lang="en-US" sz="2000" b="1" dirty="0">
                <a:cs typeface="Arial" pitchFamily="34" charset="0"/>
              </a:rPr>
              <a:t>Proposal presentation</a:t>
            </a:r>
            <a:endParaRPr lang="de-DE" sz="1800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8634410" y="6622918"/>
            <a:ext cx="12771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FYP-22 Series</a:t>
            </a:r>
          </a:p>
        </p:txBody>
      </p:sp>
    </p:spTree>
    <p:extLst>
      <p:ext uri="{BB962C8B-B14F-4D97-AF65-F5344CB8AC3E}">
        <p14:creationId xmlns:p14="http://schemas.microsoft.com/office/powerpoint/2010/main" val="323132368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ChangeArrowheads="1"/>
          </p:cNvSpPr>
          <p:nvPr/>
        </p:nvSpPr>
        <p:spPr bwMode="auto">
          <a:xfrm>
            <a:off x="274638" y="184150"/>
            <a:ext cx="9358312" cy="647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/>
            </a:pPr>
            <a:endParaRPr lang="de-DE" altLang="zh-CN">
              <a:ea typeface="SimSun" pitchFamily="2" charset="-122"/>
            </a:endParaRPr>
          </a:p>
        </p:txBody>
      </p:sp>
      <p:sp>
        <p:nvSpPr>
          <p:cNvPr id="3" name="Line 111"/>
          <p:cNvSpPr>
            <a:spLocks noChangeAspect="1" noChangeShapeType="1"/>
          </p:cNvSpPr>
          <p:nvPr/>
        </p:nvSpPr>
        <p:spPr bwMode="auto">
          <a:xfrm>
            <a:off x="125413" y="6102828"/>
            <a:ext cx="9650412" cy="0"/>
          </a:xfrm>
          <a:prstGeom prst="line">
            <a:avLst/>
          </a:prstGeom>
          <a:ln w="25400">
            <a:gradFill>
              <a:gsLst>
                <a:gs pos="0">
                  <a:srgbClr val="99FF33"/>
                </a:gs>
                <a:gs pos="15000">
                  <a:schemeClr val="bg2">
                    <a:lumMod val="75000"/>
                  </a:schemeClr>
                </a:gs>
                <a:gs pos="66000">
                  <a:schemeClr val="tx2">
                    <a:lumMod val="60000"/>
                    <a:lumOff val="40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de-DE"/>
          </a:p>
        </p:txBody>
      </p:sp>
      <p:sp>
        <p:nvSpPr>
          <p:cNvPr id="5" name="Rectangle 115"/>
          <p:cNvSpPr>
            <a:spLocks noChangeArrowheads="1"/>
          </p:cNvSpPr>
          <p:nvPr/>
        </p:nvSpPr>
        <p:spPr bwMode="auto">
          <a:xfrm>
            <a:off x="9278938" y="6171150"/>
            <a:ext cx="49688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/>
          <a:lstStyle>
            <a:lvl1pPr defTabSz="793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defTabSz="793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defTabSz="793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defTabSz="793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defTabSz="793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defTabSz="793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defTabSz="793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defTabSz="793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defTabSz="793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r">
              <a:defRPr/>
            </a:pPr>
            <a:fld id="{0443F9DF-9A8B-44C7-A84E-890F1FC53F6B}" type="slidenum">
              <a:rPr lang="de-DE" altLang="de-DE" sz="1200" smtClean="0"/>
              <a:pPr algn="r">
                <a:defRPr/>
              </a:pPr>
              <a:t>‹#›</a:t>
            </a:fld>
            <a:r>
              <a:rPr lang="en-GB" altLang="de-DE" sz="1200" dirty="0"/>
              <a:t> </a:t>
            </a:r>
          </a:p>
        </p:txBody>
      </p:sp>
      <p:sp>
        <p:nvSpPr>
          <p:cNvPr id="7" name="Line 124"/>
          <p:cNvSpPr>
            <a:spLocks noChangeShapeType="1"/>
          </p:cNvSpPr>
          <p:nvPr userDrawn="1"/>
        </p:nvSpPr>
        <p:spPr bwMode="auto">
          <a:xfrm>
            <a:off x="125413" y="706166"/>
            <a:ext cx="9650412" cy="0"/>
          </a:xfrm>
          <a:prstGeom prst="line">
            <a:avLst/>
          </a:prstGeom>
          <a:ln w="38100">
            <a:gradFill>
              <a:gsLst>
                <a:gs pos="30000">
                  <a:srgbClr val="99FF33"/>
                </a:gs>
                <a:gs pos="0">
                  <a:schemeClr val="accent1">
                    <a:lumMod val="5000"/>
                    <a:lumOff val="95000"/>
                  </a:schemeClr>
                </a:gs>
                <a:gs pos="78000">
                  <a:schemeClr val="bg2">
                    <a:lumMod val="50000"/>
                  </a:schemeClr>
                </a:gs>
                <a:gs pos="54000">
                  <a:schemeClr val="accent1">
                    <a:lumMod val="45000"/>
                    <a:lumOff val="55000"/>
                  </a:schemeClr>
                </a:gs>
                <a:gs pos="99000">
                  <a:schemeClr val="tx2">
                    <a:lumMod val="40000"/>
                    <a:lumOff val="60000"/>
                  </a:schemeClr>
                </a:gs>
              </a:gsLst>
              <a:lin ang="5400000" scaled="1"/>
            </a:gradFill>
            <a:headEnd/>
            <a:tailEnd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lIns="0" tIns="0" rIns="0" bIns="0">
            <a:spAutoFit/>
          </a:bodyPr>
          <a:lstStyle/>
          <a:p>
            <a:endParaRPr lang="de-DE"/>
          </a:p>
        </p:txBody>
      </p:sp>
      <p:sp>
        <p:nvSpPr>
          <p:cNvPr id="10" name="Text Box 23"/>
          <p:cNvSpPr txBox="1">
            <a:spLocks noChangeArrowheads="1"/>
          </p:cNvSpPr>
          <p:nvPr userDrawn="1"/>
        </p:nvSpPr>
        <p:spPr bwMode="auto">
          <a:xfrm>
            <a:off x="255588" y="6102828"/>
            <a:ext cx="965041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marL="1081088" marR="0" indent="-1081088" algn="l" defTabSz="1800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Verdana" pitchFamily="34" charset="0"/>
              <a:buNone/>
              <a:tabLst/>
              <a:defRPr/>
            </a:pPr>
            <a:r>
              <a:rPr lang="en-US" sz="1600" b="1" dirty="0">
                <a:cs typeface="+mn-cs"/>
              </a:rPr>
              <a:t>G.K Gatiba, I. Joseph:</a:t>
            </a:r>
            <a:r>
              <a:rPr lang="en-US" sz="1600" b="1" baseline="0" dirty="0">
                <a:cs typeface="+mn-cs"/>
              </a:rPr>
              <a:t> </a:t>
            </a:r>
            <a:r>
              <a:rPr lang="en-US" sz="1400" dirty="0"/>
              <a:t>Design and Development of a Reliable Dual Recovery System with Extended Range Telemetry for the Nakuja N4 Rocket </a:t>
            </a:r>
            <a:endParaRPr lang="en-US" sz="1400" dirty="0">
              <a:cs typeface="+mn-cs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131763" y="208118"/>
            <a:ext cx="8172450" cy="99609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45744938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ChangeArrowheads="1"/>
          </p:cNvSpPr>
          <p:nvPr/>
        </p:nvSpPr>
        <p:spPr bwMode="auto">
          <a:xfrm>
            <a:off x="274638" y="184150"/>
            <a:ext cx="9358312" cy="647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/>
            </a:pPr>
            <a:endParaRPr lang="de-DE" altLang="zh-CN">
              <a:ea typeface="SimSun" pitchFamily="2" charset="-122"/>
            </a:endParaRPr>
          </a:p>
        </p:txBody>
      </p:sp>
      <p:sp>
        <p:nvSpPr>
          <p:cNvPr id="3" name="Line 111"/>
          <p:cNvSpPr>
            <a:spLocks noChangeAspect="1" noChangeShapeType="1"/>
          </p:cNvSpPr>
          <p:nvPr/>
        </p:nvSpPr>
        <p:spPr bwMode="auto">
          <a:xfrm>
            <a:off x="125413" y="6102828"/>
            <a:ext cx="9650412" cy="0"/>
          </a:xfrm>
          <a:prstGeom prst="line">
            <a:avLst/>
          </a:prstGeom>
          <a:ln w="25400">
            <a:gradFill>
              <a:gsLst>
                <a:gs pos="0">
                  <a:srgbClr val="99FF33"/>
                </a:gs>
                <a:gs pos="15000">
                  <a:schemeClr val="bg2">
                    <a:lumMod val="75000"/>
                  </a:schemeClr>
                </a:gs>
                <a:gs pos="66000">
                  <a:schemeClr val="tx2">
                    <a:lumMod val="60000"/>
                    <a:lumOff val="4000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5400000" scaled="1"/>
            </a:gradFill>
            <a:headEnd type="none" w="sm" len="sm"/>
            <a:tailEnd type="none" w="sm" len="sm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de-DE"/>
          </a:p>
        </p:txBody>
      </p:sp>
      <p:sp>
        <p:nvSpPr>
          <p:cNvPr id="5" name="Rectangle 115"/>
          <p:cNvSpPr>
            <a:spLocks noChangeArrowheads="1"/>
          </p:cNvSpPr>
          <p:nvPr/>
        </p:nvSpPr>
        <p:spPr bwMode="auto">
          <a:xfrm>
            <a:off x="9278938" y="6171150"/>
            <a:ext cx="496887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/>
          <a:lstStyle>
            <a:lvl1pPr defTabSz="793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defTabSz="793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defTabSz="793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defTabSz="793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defTabSz="793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defTabSz="793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defTabSz="793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defTabSz="793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defTabSz="793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r">
              <a:defRPr/>
            </a:pPr>
            <a:fld id="{0443F9DF-9A8B-44C7-A84E-890F1FC53F6B}" type="slidenum">
              <a:rPr lang="de-DE" altLang="de-DE" sz="1200" smtClean="0"/>
              <a:pPr algn="r">
                <a:defRPr/>
              </a:pPr>
              <a:t>‹#›</a:t>
            </a:fld>
            <a:r>
              <a:rPr lang="en-GB" altLang="de-DE" sz="1200" dirty="0"/>
              <a:t> </a:t>
            </a:r>
          </a:p>
        </p:txBody>
      </p:sp>
      <p:sp>
        <p:nvSpPr>
          <p:cNvPr id="7" name="Line 124"/>
          <p:cNvSpPr>
            <a:spLocks noChangeShapeType="1"/>
          </p:cNvSpPr>
          <p:nvPr userDrawn="1"/>
        </p:nvSpPr>
        <p:spPr bwMode="auto">
          <a:xfrm>
            <a:off x="125413" y="706166"/>
            <a:ext cx="9650412" cy="0"/>
          </a:xfrm>
          <a:prstGeom prst="line">
            <a:avLst/>
          </a:prstGeom>
          <a:ln w="38100">
            <a:gradFill>
              <a:gsLst>
                <a:gs pos="30000">
                  <a:srgbClr val="99FF33"/>
                </a:gs>
                <a:gs pos="0">
                  <a:schemeClr val="accent1">
                    <a:lumMod val="5000"/>
                    <a:lumOff val="95000"/>
                  </a:schemeClr>
                </a:gs>
                <a:gs pos="78000">
                  <a:schemeClr val="bg2">
                    <a:lumMod val="50000"/>
                  </a:schemeClr>
                </a:gs>
                <a:gs pos="54000">
                  <a:schemeClr val="accent1">
                    <a:lumMod val="45000"/>
                    <a:lumOff val="55000"/>
                  </a:schemeClr>
                </a:gs>
                <a:gs pos="99000">
                  <a:schemeClr val="tx2">
                    <a:lumMod val="40000"/>
                    <a:lumOff val="60000"/>
                  </a:schemeClr>
                </a:gs>
              </a:gsLst>
              <a:lin ang="5400000" scaled="1"/>
            </a:gradFill>
            <a:headEnd/>
            <a:tailEnd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lIns="0" tIns="0" rIns="0" bIns="0">
            <a:spAutoFit/>
          </a:bodyPr>
          <a:lstStyle/>
          <a:p>
            <a:endParaRPr lang="de-DE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131763" y="208118"/>
            <a:ext cx="8172450" cy="99609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Introduction</a:t>
            </a:r>
          </a:p>
        </p:txBody>
      </p:sp>
      <p:sp>
        <p:nvSpPr>
          <p:cNvPr id="4" name="Text Box 23">
            <a:extLst>
              <a:ext uri="{FF2B5EF4-FFF2-40B4-BE49-F238E27FC236}">
                <a16:creationId xmlns:a16="http://schemas.microsoft.com/office/drawing/2014/main" id="{081F32AD-8F06-1D69-1D8C-AD7EBA375D0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5588" y="6102828"/>
            <a:ext cx="965041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n"/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marL="1081088" marR="0" indent="-1081088" algn="l" defTabSz="1800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Verdana" pitchFamily="34" charset="0"/>
              <a:buNone/>
              <a:tabLst/>
              <a:defRPr/>
            </a:pPr>
            <a:r>
              <a:rPr lang="en-US" sz="1600" b="1" dirty="0">
                <a:cs typeface="+mn-cs"/>
              </a:rPr>
              <a:t>Glenn Kanyi, Ian Joseph:</a:t>
            </a:r>
            <a:r>
              <a:rPr lang="en-US" sz="1600" b="1" baseline="0" dirty="0">
                <a:cs typeface="+mn-cs"/>
              </a:rPr>
              <a:t> </a:t>
            </a:r>
            <a:r>
              <a:rPr lang="en-US" sz="1400" dirty="0"/>
              <a:t>Design and Development of a Reliable Dual Recovery System with Extended Range Telemetry for the Nakuja N4 Rocket </a:t>
            </a:r>
            <a:endParaRPr lang="en-US" sz="140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8220901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ChangeArrowheads="1"/>
          </p:cNvSpPr>
          <p:nvPr/>
        </p:nvSpPr>
        <p:spPr bwMode="auto">
          <a:xfrm>
            <a:off x="274638" y="184150"/>
            <a:ext cx="9358312" cy="647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Char char="n"/>
              <a:defRPr/>
            </a:pPr>
            <a:endParaRPr lang="de-DE" altLang="zh-CN"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063784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9" r:id="rId3"/>
    <p:sldLayoutId id="2147483908" r:id="rId4"/>
  </p:sldLayoutIdLst>
  <p:transition>
    <p:fade/>
  </p:transition>
  <p:hf sldNum="0" hdr="0" ftr="0" dt="0"/>
  <p:txStyles>
    <p:titleStyle>
      <a:lvl1pPr algn="l" defTabSz="7937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+mj-ea"/>
          <a:cs typeface="+mj-cs"/>
        </a:defRPr>
      </a:lvl1pPr>
      <a:lvl2pPr algn="l" defTabSz="7937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defTabSz="7937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defTabSz="7937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defTabSz="7937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defTabSz="7937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6pPr>
      <a:lvl7pPr marL="914400" algn="l" defTabSz="7937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7pPr>
      <a:lvl8pPr marL="1371600" algn="l" defTabSz="7937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8pPr>
      <a:lvl9pPr marL="1828800" algn="l" defTabSz="79375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34" charset="0"/>
        </a:defRPr>
      </a:lvl9pPr>
    </p:titleStyle>
    <p:bodyStyle>
      <a:lvl1pPr marL="285750" indent="-285750" algn="l" defTabSz="793750" rtl="0" eaLnBrk="0" fontAlgn="base" hangingPunct="0">
        <a:spcBef>
          <a:spcPct val="50000"/>
        </a:spcBef>
        <a:spcAft>
          <a:spcPct val="0"/>
        </a:spcAft>
        <a:buClr>
          <a:schemeClr val="accent1"/>
        </a:buClr>
        <a:buFont typeface="Verdana" pitchFamily="34" charset="0"/>
        <a:defRPr sz="1600">
          <a:solidFill>
            <a:schemeClr val="tx1"/>
          </a:solidFill>
          <a:latin typeface="Arial" charset="0"/>
          <a:ea typeface="+mn-ea"/>
          <a:cs typeface="+mn-cs"/>
        </a:defRPr>
      </a:lvl1pPr>
      <a:lvl2pPr marL="857250" indent="-285750" algn="l" defTabSz="793750" rtl="0" eaLnBrk="0" fontAlgn="base" hangingPunct="0">
        <a:spcBef>
          <a:spcPct val="50000"/>
        </a:spcBef>
        <a:spcAft>
          <a:spcPct val="0"/>
        </a:spcAft>
        <a:buClr>
          <a:schemeClr val="accent1"/>
        </a:buClr>
        <a:buSzPct val="90000"/>
        <a:buFont typeface="Verdana" pitchFamily="34" charset="0"/>
        <a:buChar char="o"/>
        <a:defRPr sz="1600">
          <a:solidFill>
            <a:schemeClr val="tx1"/>
          </a:solidFill>
          <a:latin typeface="Arial" charset="0"/>
        </a:defRPr>
      </a:lvl2pPr>
      <a:lvl3pPr marL="1809750" indent="-95250" algn="l" defTabSz="793750" rtl="0" eaLnBrk="0" fontAlgn="base" hangingPunct="0">
        <a:spcBef>
          <a:spcPct val="50000"/>
        </a:spcBef>
        <a:spcAft>
          <a:spcPct val="0"/>
        </a:spcAft>
        <a:buClr>
          <a:schemeClr val="accent1"/>
        </a:buClr>
        <a:buSzPct val="90000"/>
        <a:buFont typeface="Verdana" pitchFamily="34" charset="0"/>
        <a:buChar char="o"/>
        <a:defRPr sz="1600">
          <a:solidFill>
            <a:schemeClr val="tx1"/>
          </a:solidFill>
          <a:latin typeface="Arial" charset="0"/>
        </a:defRPr>
      </a:lvl3pPr>
      <a:lvl4pPr marL="2000250" indent="-628650" algn="l" defTabSz="793750" rtl="0" eaLnBrk="0" fontAlgn="base" hangingPunct="0">
        <a:spcBef>
          <a:spcPct val="50000"/>
        </a:spcBef>
        <a:spcAft>
          <a:spcPct val="0"/>
        </a:spcAft>
        <a:buClr>
          <a:schemeClr val="accent1"/>
        </a:buClr>
        <a:buSzPct val="90000"/>
        <a:buFont typeface="Verdana" pitchFamily="34" charset="0"/>
        <a:buChar char="o"/>
        <a:defRPr sz="1600">
          <a:solidFill>
            <a:schemeClr val="tx1"/>
          </a:solidFill>
          <a:latin typeface="Arial" charset="0"/>
        </a:defRPr>
      </a:lvl4pPr>
      <a:lvl5pPr marL="2471738" indent="-280988" algn="l" defTabSz="793750" rtl="0" eaLnBrk="0" fontAlgn="base" hangingPunct="0">
        <a:spcBef>
          <a:spcPct val="50000"/>
        </a:spcBef>
        <a:spcAft>
          <a:spcPct val="0"/>
        </a:spcAft>
        <a:buClr>
          <a:schemeClr val="accent1"/>
        </a:buClr>
        <a:buSzPct val="90000"/>
        <a:buFont typeface="Verdana" pitchFamily="34" charset="0"/>
        <a:buChar char="o"/>
        <a:defRPr sz="1600">
          <a:solidFill>
            <a:schemeClr val="tx1"/>
          </a:solidFill>
          <a:latin typeface="Arial" charset="0"/>
        </a:defRPr>
      </a:lvl5pPr>
      <a:lvl6pPr marL="2928938" indent="-280988" algn="l" defTabSz="793750" rtl="0" eaLnBrk="0" fontAlgn="base" hangingPunct="0">
        <a:spcBef>
          <a:spcPct val="50000"/>
        </a:spcBef>
        <a:spcAft>
          <a:spcPct val="0"/>
        </a:spcAft>
        <a:buClr>
          <a:schemeClr val="accent1"/>
        </a:buClr>
        <a:buSzPct val="90000"/>
        <a:buFont typeface="Verdana" pitchFamily="34" charset="0"/>
        <a:buChar char="o"/>
        <a:defRPr sz="1600">
          <a:solidFill>
            <a:schemeClr val="tx1"/>
          </a:solidFill>
          <a:latin typeface="+mn-lt"/>
        </a:defRPr>
      </a:lvl6pPr>
      <a:lvl7pPr marL="3386138" indent="-280988" algn="l" defTabSz="793750" rtl="0" eaLnBrk="0" fontAlgn="base" hangingPunct="0">
        <a:spcBef>
          <a:spcPct val="50000"/>
        </a:spcBef>
        <a:spcAft>
          <a:spcPct val="0"/>
        </a:spcAft>
        <a:buClr>
          <a:schemeClr val="accent1"/>
        </a:buClr>
        <a:buSzPct val="90000"/>
        <a:buFont typeface="Verdana" pitchFamily="34" charset="0"/>
        <a:buChar char="o"/>
        <a:defRPr sz="1600">
          <a:solidFill>
            <a:schemeClr val="tx1"/>
          </a:solidFill>
          <a:latin typeface="+mn-lt"/>
        </a:defRPr>
      </a:lvl7pPr>
      <a:lvl8pPr marL="3843338" indent="-280988" algn="l" defTabSz="793750" rtl="0" eaLnBrk="0" fontAlgn="base" hangingPunct="0">
        <a:spcBef>
          <a:spcPct val="50000"/>
        </a:spcBef>
        <a:spcAft>
          <a:spcPct val="0"/>
        </a:spcAft>
        <a:buClr>
          <a:schemeClr val="accent1"/>
        </a:buClr>
        <a:buSzPct val="90000"/>
        <a:buFont typeface="Verdana" pitchFamily="34" charset="0"/>
        <a:buChar char="o"/>
        <a:defRPr sz="1600">
          <a:solidFill>
            <a:schemeClr val="tx1"/>
          </a:solidFill>
          <a:latin typeface="+mn-lt"/>
        </a:defRPr>
      </a:lvl8pPr>
      <a:lvl9pPr marL="4300538" indent="-280988" algn="l" defTabSz="793750" rtl="0" eaLnBrk="0" fontAlgn="base" hangingPunct="0">
        <a:spcBef>
          <a:spcPct val="50000"/>
        </a:spcBef>
        <a:spcAft>
          <a:spcPct val="0"/>
        </a:spcAft>
        <a:buClr>
          <a:schemeClr val="accent1"/>
        </a:buClr>
        <a:buSzPct val="90000"/>
        <a:buFont typeface="Verdana" pitchFamily="34" charset="0"/>
        <a:buChar char="o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070170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39533" y="238350"/>
            <a:ext cx="4354375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None/>
            </a:pPr>
            <a:r>
              <a:rPr lang="de-DE" altLang="zh-CN" sz="2800" b="1" dirty="0">
                <a:ea typeface="SimSun" pitchFamily="2" charset="-122"/>
              </a:rPr>
              <a:t>Presentation Outline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2BE6036-355D-398C-CA2E-7C3E3B20B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405" y="1040749"/>
            <a:ext cx="6771993" cy="4438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Problem Statement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Objectives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Key Literature Review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Proposed Methodology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(Mechanical &amp; Electrical)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Expected Outcomes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Project Time Plan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Budget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CB9989-5BE1-A28B-7C85-4A240D988D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898" y="1101857"/>
            <a:ext cx="5595347" cy="352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08367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3892" y="238350"/>
            <a:ext cx="2693664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None/>
            </a:pPr>
            <a:r>
              <a:rPr lang="en-US" altLang="zh-CN" sz="1800" b="1" dirty="0">
                <a:ea typeface="SimSun" pitchFamily="2" charset="-122"/>
              </a:rPr>
              <a:t>Problem Statement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C188DEF-C031-3FA1-669A-D7C1C7BB68F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99565" y="3005749"/>
            <a:ext cx="88520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A25866-7692-34A2-1478-289B37F1F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867" y="1345416"/>
            <a:ext cx="830692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Telemetry Range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 telemetry protocol suffers rapid RSSI decay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Unreliable Deployment Ignition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DC dump ignition of nichrome wire exceeds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1000 °C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06E2CB-32C9-260E-E5EB-789F3BCBD2B9}"/>
              </a:ext>
            </a:extLst>
          </p:cNvPr>
          <p:cNvSpPr txBox="1"/>
          <p:nvPr/>
        </p:nvSpPr>
        <p:spPr>
          <a:xfrm>
            <a:off x="519867" y="3099742"/>
            <a:ext cx="64992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single-use deployment system</a:t>
            </a:r>
          </a:p>
          <a:p>
            <a:pPr eaLnBrk="0" hangingPunct="0">
              <a:buFontTx/>
              <a:buChar char="•"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Pre-Flight Health Feedback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real-time battery voltage monitoring</a:t>
            </a:r>
          </a:p>
        </p:txBody>
      </p:sp>
    </p:spTree>
    <p:extLst>
      <p:ext uri="{BB962C8B-B14F-4D97-AF65-F5344CB8AC3E}">
        <p14:creationId xmlns:p14="http://schemas.microsoft.com/office/powerpoint/2010/main" val="320521392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355B0-069E-1CF2-2CB6-FC07A1006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>
            <a:extLst>
              <a:ext uri="{FF2B5EF4-FFF2-40B4-BE49-F238E27FC236}">
                <a16:creationId xmlns:a16="http://schemas.microsoft.com/office/drawing/2014/main" id="{AA11474F-A0BD-A500-A302-822799697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2" y="238350"/>
            <a:ext cx="1547516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None/>
            </a:pPr>
            <a:r>
              <a:rPr lang="en-US" altLang="zh-CN" sz="1800" b="1" dirty="0">
                <a:ea typeface="SimSun" pitchFamily="2" charset="-122"/>
              </a:rPr>
              <a:t>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695DBE-28F6-1AB3-2791-3EF14DFC0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59" y="1105880"/>
            <a:ext cx="8193387" cy="5032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Main Objective:</a:t>
            </a:r>
            <a:r>
              <a:rPr lang="en-US" sz="1800" dirty="0"/>
              <a:t> To design and fabricate a </a:t>
            </a:r>
            <a:r>
              <a:rPr lang="en-US" sz="1800" b="1" dirty="0"/>
              <a:t>reliable dual recovery system</a:t>
            </a:r>
            <a:r>
              <a:rPr lang="en-US" sz="1800" dirty="0"/>
              <a:t> for the N4 rocket with extended telemetry range.</a:t>
            </a:r>
          </a:p>
          <a:p>
            <a:endParaRPr lang="en-US" sz="1800" dirty="0"/>
          </a:p>
          <a:p>
            <a:r>
              <a:rPr lang="en-US" sz="1800" b="1" dirty="0"/>
              <a:t>Specific Objectives:</a:t>
            </a: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b="1" dirty="0"/>
              <a:t>Extended-Range Telemetry:</a:t>
            </a:r>
            <a:r>
              <a:rPr lang="en-US" sz="1800" dirty="0"/>
              <a:t> Implement Digi </a:t>
            </a:r>
            <a:r>
              <a:rPr lang="en-US" sz="1800" dirty="0" err="1"/>
              <a:t>XBee</a:t>
            </a:r>
            <a:r>
              <a:rPr lang="en-US" sz="1800" dirty="0"/>
              <a:t>-PRO 900HP for reliable &gt;5 km communication with &lt;5% packet loss.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b="1" dirty="0"/>
              <a:t>Controlled Pyrotechnic Deployment:</a:t>
            </a:r>
            <a:r>
              <a:rPr lang="en-US" sz="1800" dirty="0"/>
              <a:t> PWM-regulated nichrome ignition with sealed explosion caps for reliable drogue and main deployment.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b="1" dirty="0"/>
              <a:t>Integrated Avionics &amp; Health Monitoring:</a:t>
            </a:r>
            <a:r>
              <a:rPr lang="en-US" sz="1800" dirty="0"/>
              <a:t> Rugged 3D-printed PETG avionics holder with vibration isolation, battery retention, and real-time system diagnostics.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b="1" dirty="0"/>
              <a:t>System Validation: </a:t>
            </a:r>
            <a:r>
              <a:rPr lang="en-US" sz="1800" dirty="0"/>
              <a:t>Pop tests for deployment reliability and range tests confirming &gt;5 km telemetry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51950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27424-1E69-9BB2-0DD2-324607F82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>
            <a:extLst>
              <a:ext uri="{FF2B5EF4-FFF2-40B4-BE49-F238E27FC236}">
                <a16:creationId xmlns:a16="http://schemas.microsoft.com/office/drawing/2014/main" id="{0FC532EB-ED65-8B77-FB9D-06EC755AB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2" y="238350"/>
            <a:ext cx="3984081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None/>
            </a:pPr>
            <a:r>
              <a:rPr lang="en-US" altLang="zh-CN" sz="1800" b="1" dirty="0">
                <a:ea typeface="SimSun" pitchFamily="2" charset="-122"/>
              </a:rPr>
              <a:t>Literature Review: Telemetry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D80ABBA-D4FC-DAC1-25C9-972041237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601410"/>
              </p:ext>
            </p:extLst>
          </p:nvPr>
        </p:nvGraphicFramePr>
        <p:xfrm>
          <a:off x="108642" y="851026"/>
          <a:ext cx="9469924" cy="515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7481">
                  <a:extLst>
                    <a:ext uri="{9D8B030D-6E8A-4147-A177-3AD203B41FA5}">
                      <a16:colId xmlns:a16="http://schemas.microsoft.com/office/drawing/2014/main" val="72058707"/>
                    </a:ext>
                  </a:extLst>
                </a:gridCol>
                <a:gridCol w="2367481">
                  <a:extLst>
                    <a:ext uri="{9D8B030D-6E8A-4147-A177-3AD203B41FA5}">
                      <a16:colId xmlns:a16="http://schemas.microsoft.com/office/drawing/2014/main" val="2095693803"/>
                    </a:ext>
                  </a:extLst>
                </a:gridCol>
                <a:gridCol w="2367481">
                  <a:extLst>
                    <a:ext uri="{9D8B030D-6E8A-4147-A177-3AD203B41FA5}">
                      <a16:colId xmlns:a16="http://schemas.microsoft.com/office/drawing/2014/main" val="4279948971"/>
                    </a:ext>
                  </a:extLst>
                </a:gridCol>
                <a:gridCol w="2367481">
                  <a:extLst>
                    <a:ext uri="{9D8B030D-6E8A-4147-A177-3AD203B41FA5}">
                      <a16:colId xmlns:a16="http://schemas.microsoft.com/office/drawing/2014/main" val="2596704700"/>
                    </a:ext>
                  </a:extLst>
                </a:gridCol>
              </a:tblGrid>
              <a:tr h="6269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Category / Author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Title / Context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Key Results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Gaps (Addressed by N4)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781281334"/>
                  </a:ext>
                </a:extLst>
              </a:tr>
              <a:tr h="6269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Nakuja N4 Team (2024)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Range Test 2: RSSI Analysis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2.4 GHz signals degraded rapidly with distance/altitude </a:t>
                      </a:r>
                      <a:r>
                        <a:rPr lang="en-US" baseline="30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1111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Range Limit: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Current beacons suffer signal loss at &lt;2 km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953288527"/>
                  </a:ext>
                </a:extLst>
              </a:tr>
              <a:tr h="6269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Chen L., Kumar R. (2022)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PWM control for ignition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PWM allows precise temperature regulation of nichrome 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Reusability: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DC dump melts wires instantly (single-use) 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157567431"/>
                  </a:ext>
                </a:extLst>
              </a:tr>
              <a:tr h="6269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Nakuja N4 Team (2024)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Post-Deployment Analysis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Ejection worked but caused internal charring and damage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Containment: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Lack of sealed caps led to unpredictable pressurization </a:t>
                      </a:r>
                      <a:r>
                        <a:rPr lang="en-US" baseline="300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14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607551953"/>
                  </a:ext>
                </a:extLst>
              </a:tr>
              <a:tr h="6269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Nakuja</a:t>
                      </a:r>
                      <a:r>
                        <a:rPr lang="fr-FR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N4 Team. (2025)</a:t>
                      </a:r>
                      <a:endParaRPr lang="fr-FR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Battery management systems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Unpredictable draw of power from the battery pack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Safety: </a:t>
                      </a:r>
                      <a:r>
                        <a:rPr lang="en-US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Lack of a proper battery management results in battery damage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96826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315955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738B8-D985-CC81-3524-18F39FA8F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>
            <a:extLst>
              <a:ext uri="{FF2B5EF4-FFF2-40B4-BE49-F238E27FC236}">
                <a16:creationId xmlns:a16="http://schemas.microsoft.com/office/drawing/2014/main" id="{C3EC88D7-10A2-526B-412F-685F813C0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2" y="238350"/>
            <a:ext cx="1853690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None/>
            </a:pPr>
            <a:r>
              <a:rPr lang="en-US" altLang="zh-CN" sz="1800" b="1" dirty="0">
                <a:ea typeface="SimSun" pitchFamily="2" charset="-122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5885D5-E3C1-85BA-09C3-1E27D4E23FCF}"/>
              </a:ext>
            </a:extLst>
          </p:cNvPr>
          <p:cNvSpPr txBox="1"/>
          <p:nvPr/>
        </p:nvSpPr>
        <p:spPr>
          <a:xfrm>
            <a:off x="215020" y="924880"/>
            <a:ext cx="4956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Design Considerations</a:t>
            </a: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B0D9E1-448C-FFE8-F909-B5825ED956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851" t="29571" r="19593" b="50000"/>
          <a:stretch>
            <a:fillRect/>
          </a:stretch>
        </p:blipFill>
        <p:spPr>
          <a:xfrm>
            <a:off x="5065692" y="924880"/>
            <a:ext cx="4469863" cy="2820507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6C4287A7-2C73-C9D3-A4CE-CADD49E99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02" y="1406285"/>
            <a:ext cx="5204989" cy="253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A. Operational Limits (Flight Profile)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Target Apogee: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~3.6 km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Max Telemetry Range: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5.0 km+ (Calculated link margin of +32.34 dB)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222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B. Electrical Requirements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Nominal Voltage: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14.8V (4S Configuration)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4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Safety Threshold: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Launch inhibit programmed at 14.0V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5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619005-F451-2B6C-3ECC-494642CF5D71}"/>
              </a:ext>
            </a:extLst>
          </p:cNvPr>
          <p:cNvSpPr txBox="1"/>
          <p:nvPr/>
        </p:nvSpPr>
        <p:spPr>
          <a:xfrm>
            <a:off x="250001" y="3670999"/>
            <a:ext cx="745449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C. Mechanical &amp; CAD Dimensions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Avionics Sled Height: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222.00 mm.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Sled Width: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95.20 mm.</a:t>
            </a:r>
          </a:p>
          <a:p>
            <a:pPr lvl="0" eaLnBrk="0" hangingPunct="0"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Battery Standard (IREC/SA Cup):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Lithium Ion 18650 cells</a:t>
            </a:r>
            <a:r>
              <a:rPr lang="en-US" altLang="en-US" sz="1800" dirty="0">
                <a:latin typeface="Google Sans Text"/>
              </a:rPr>
              <a:t>.</a:t>
            </a:r>
            <a:r>
              <a:rPr lang="en-US" sz="1800" b="1" dirty="0"/>
              <a:t> </a:t>
            </a:r>
            <a:r>
              <a:rPr lang="en-US" sz="1600" b="1" dirty="0"/>
              <a:t>18.6 mm (Max Diameter) x 65.2 mm (Max Length) 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58F992-85BD-67F6-F373-B2AAE23918E9}"/>
              </a:ext>
            </a:extLst>
          </p:cNvPr>
          <p:cNvSpPr txBox="1"/>
          <p:nvPr/>
        </p:nvSpPr>
        <p:spPr>
          <a:xfrm>
            <a:off x="5016887" y="3857460"/>
            <a:ext cx="49567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Proposed Full Assembly Design</a:t>
            </a:r>
          </a:p>
        </p:txBody>
      </p:sp>
    </p:spTree>
    <p:extLst>
      <p:ext uri="{BB962C8B-B14F-4D97-AF65-F5344CB8AC3E}">
        <p14:creationId xmlns:p14="http://schemas.microsoft.com/office/powerpoint/2010/main" val="334945691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02646-12F6-3AE5-C2E3-B6FC79B8F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E2AC9BA-FE7B-E131-A016-19979B86DCD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15020" y="1293840"/>
            <a:ext cx="5462777" cy="3339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i="1" dirty="0"/>
              <a:t>Focus: Solving the vibration and power failure issues (The CAD).</a:t>
            </a:r>
            <a:endParaRPr lang="en-US" sz="1400" dirty="0"/>
          </a:p>
          <a:p>
            <a:r>
              <a:rPr lang="en-US" sz="1400" b="1" dirty="0"/>
              <a:t>Custom Avionics Sled (CAD Design):</a:t>
            </a:r>
            <a:endParaRPr lang="en-US" sz="1400" dirty="0"/>
          </a:p>
          <a:p>
            <a:pPr lvl="1"/>
            <a:r>
              <a:rPr lang="en-US" sz="1400" b="1" dirty="0"/>
              <a:t>Material:</a:t>
            </a:r>
            <a:r>
              <a:rPr lang="en-US" sz="1400" dirty="0"/>
              <a:t> 3D-printed PETG for high impact resistance.</a:t>
            </a:r>
          </a:p>
          <a:p>
            <a:pPr lvl="1"/>
            <a:r>
              <a:rPr lang="en-US" sz="1400" b="1" dirty="0"/>
              <a:t>Battery Retention:</a:t>
            </a:r>
            <a:endParaRPr lang="en-US" sz="1400" dirty="0"/>
          </a:p>
          <a:p>
            <a:pPr lvl="2"/>
            <a:r>
              <a:rPr lang="en-US" sz="1400" dirty="0"/>
              <a:t>Replaces standard spring-loaded holders which fail under high-G force.</a:t>
            </a:r>
          </a:p>
          <a:p>
            <a:pPr lvl="2"/>
            <a:r>
              <a:rPr lang="en-US" sz="1400" dirty="0"/>
              <a:t>Uses a </a:t>
            </a:r>
            <a:r>
              <a:rPr lang="en-US" sz="1400" b="1" dirty="0"/>
              <a:t>constrained slot design</a:t>
            </a:r>
            <a:r>
              <a:rPr lang="en-US" sz="1400" dirty="0"/>
              <a:t> (95.20mm x 40.16mm footprint) to mechanically lock the battery pack in place.</a:t>
            </a:r>
          </a:p>
          <a:p>
            <a:r>
              <a:rPr lang="en-US" sz="1400" b="1" dirty="0"/>
              <a:t>Vibration Isolation:</a:t>
            </a:r>
            <a:endParaRPr lang="en-US" sz="1400" dirty="0"/>
          </a:p>
          <a:p>
            <a:pPr lvl="1"/>
            <a:r>
              <a:rPr lang="en-US" sz="1400" dirty="0"/>
              <a:t>PCB mounted on Brass columns for easy removal of the Flight Computer for data retrieval.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299D1D-885D-0D97-0E44-A7D5CDC62685}"/>
              </a:ext>
            </a:extLst>
          </p:cNvPr>
          <p:cNvSpPr txBox="1"/>
          <p:nvPr/>
        </p:nvSpPr>
        <p:spPr>
          <a:xfrm>
            <a:off x="5479610" y="4723653"/>
            <a:ext cx="4956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1800" dirty="0"/>
              <a:t>CAD Design Using inventor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8EBD1A-A6F4-74A1-661E-61EF844507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633"/>
          <a:stretch>
            <a:fillRect/>
          </a:stretch>
        </p:blipFill>
        <p:spPr>
          <a:xfrm>
            <a:off x="5967508" y="867375"/>
            <a:ext cx="3475255" cy="376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28406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3892" y="238350"/>
            <a:ext cx="1853690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None/>
            </a:pPr>
            <a:r>
              <a:rPr lang="en-US" altLang="zh-CN" sz="1800" b="1" dirty="0">
                <a:ea typeface="SimSun" pitchFamily="2" charset="-122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2BB7D6-4D3A-98EA-A5A0-A8C9DE34FC4E}"/>
              </a:ext>
            </a:extLst>
          </p:cNvPr>
          <p:cNvSpPr txBox="1"/>
          <p:nvPr/>
        </p:nvSpPr>
        <p:spPr>
          <a:xfrm>
            <a:off x="288410" y="906132"/>
            <a:ext cx="4956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Xbee</a:t>
            </a:r>
            <a:endParaRPr lang="en-US" sz="20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ECDB87B-4AF9-099A-7E67-8CBA00914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914" y="1306242"/>
            <a:ext cx="4682903" cy="4755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Focus: Why 5km is possible (The Link Budget).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Telemetry Range Justification: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Hardware: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Digi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XBee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-PRO 900HP (S3B) antenna at +24 dBm transmission power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Link Budget: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Calculated Free Space Path Loss (FSPL) at </a:t>
            </a:r>
            <a:r>
              <a:rPr lang="en-US" altLang="en-US" sz="1800" dirty="0">
                <a:latin typeface="Google Sans Text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5km is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approx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105.66 dB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Safety Margin: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Theoretical link margin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+32.34 dB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allows for range significantly &gt;5km under ideal conditions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3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Signal Reliability Strategy: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"Donut" Effect: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Vertical dipole antennas have "nulls" (blind spots) directly overhead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4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Mitigation: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Ground station antenna will 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tilted 45°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align the radiation lobe with the rocket at apogee</a:t>
            </a:r>
            <a:r>
              <a:rPr kumimoji="0" lang="en-US" altLang="en-US" sz="12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5555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74EEDC-FD5B-BC7E-6461-A80462DAC8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11" t="11012" r="7638" b="17670"/>
          <a:stretch>
            <a:fillRect/>
          </a:stretch>
        </p:blipFill>
        <p:spPr>
          <a:xfrm>
            <a:off x="4953000" y="3315233"/>
            <a:ext cx="4830720" cy="25389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04B033-58FD-81A6-3D5C-0851D41E70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05" t="14970" r="7452"/>
          <a:stretch>
            <a:fillRect/>
          </a:stretch>
        </p:blipFill>
        <p:spPr>
          <a:xfrm>
            <a:off x="5125773" y="824826"/>
            <a:ext cx="2788467" cy="22469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3B33B94-2203-2137-7973-D87A306FF78F}"/>
              </a:ext>
            </a:extLst>
          </p:cNvPr>
          <p:cNvSpPr txBox="1"/>
          <p:nvPr/>
        </p:nvSpPr>
        <p:spPr>
          <a:xfrm>
            <a:off x="4349377" y="3071750"/>
            <a:ext cx="5434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Fig shows Donut shape of the duck antenna signal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6DBAF5-8658-9721-981A-4B70D70168C9}"/>
              </a:ext>
            </a:extLst>
          </p:cNvPr>
          <p:cNvSpPr txBox="1"/>
          <p:nvPr/>
        </p:nvSpPr>
        <p:spPr>
          <a:xfrm>
            <a:off x="4442989" y="5728321"/>
            <a:ext cx="4956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Proposed Antenna Orientation</a:t>
            </a:r>
          </a:p>
        </p:txBody>
      </p:sp>
    </p:spTree>
    <p:extLst>
      <p:ext uri="{BB962C8B-B14F-4D97-AF65-F5344CB8AC3E}">
        <p14:creationId xmlns:p14="http://schemas.microsoft.com/office/powerpoint/2010/main" val="301356428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CD73B-B8F9-8B56-CCA1-B66B1B8FF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>
            <a:extLst>
              <a:ext uri="{FF2B5EF4-FFF2-40B4-BE49-F238E27FC236}">
                <a16:creationId xmlns:a16="http://schemas.microsoft.com/office/drawing/2014/main" id="{CDC07E27-8434-1E97-52D8-D59F338E4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2" y="238350"/>
            <a:ext cx="1694993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None/>
            </a:pPr>
            <a:r>
              <a:rPr lang="en-US" altLang="zh-CN" sz="1800" b="1" dirty="0" err="1">
                <a:ea typeface="SimSun" pitchFamily="2" charset="-122"/>
              </a:rPr>
              <a:t>Methodolgy</a:t>
            </a:r>
            <a:endParaRPr lang="en-US" altLang="zh-CN" sz="1800" b="1" dirty="0">
              <a:ea typeface="SimSun" pitchFamily="2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D1C984-3615-3B46-26DE-80AC99880415}"/>
              </a:ext>
            </a:extLst>
          </p:cNvPr>
          <p:cNvSpPr txBox="1"/>
          <p:nvPr/>
        </p:nvSpPr>
        <p:spPr>
          <a:xfrm>
            <a:off x="215020" y="924880"/>
            <a:ext cx="4956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Electrical</a:t>
            </a:r>
            <a:endParaRPr lang="en-US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C23FA2-F178-BB86-3C6B-C2B465380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092" y="1443841"/>
            <a:ext cx="553845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Circuit Topology: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Sender (Rocket):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ESP32 wired to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XBee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via UART (Pins 32/34) with voltage regulation.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Receiver (Ground):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ESP connected to HC-06 Bluetooth module for wireless forwarding to mobile devices/laptops.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Ignition Logic: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PWM Control: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MOSFET drivers use Pulse Width Modulation to regulate current, preventing "instant melt" of Nichrome wire.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Safety Interlock: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Software prevents ignition if battery voltage drops below safe threshold (&lt;14V).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9AA231-008F-6833-CB6D-CC294C266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35" b="3746"/>
          <a:stretch>
            <a:fillRect/>
          </a:stretch>
        </p:blipFill>
        <p:spPr>
          <a:xfrm>
            <a:off x="5744347" y="854805"/>
            <a:ext cx="3741545" cy="27703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CC1178-6294-1DA1-2985-F6936452AF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53" r="10106" b="5939"/>
          <a:stretch>
            <a:fillRect/>
          </a:stretch>
        </p:blipFill>
        <p:spPr>
          <a:xfrm>
            <a:off x="5744347" y="3625166"/>
            <a:ext cx="3888540" cy="19827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17F6A9D-27A9-FA58-7B4B-9598AA3710A5}"/>
              </a:ext>
            </a:extLst>
          </p:cNvPr>
          <p:cNvSpPr txBox="1"/>
          <p:nvPr/>
        </p:nvSpPr>
        <p:spPr>
          <a:xfrm>
            <a:off x="5744347" y="5492818"/>
            <a:ext cx="44860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hangingPunct="0">
              <a:buFontTx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Sender and receiver Circuit connections</a:t>
            </a:r>
          </a:p>
        </p:txBody>
      </p:sp>
    </p:spTree>
    <p:extLst>
      <p:ext uri="{BB962C8B-B14F-4D97-AF65-F5344CB8AC3E}">
        <p14:creationId xmlns:p14="http://schemas.microsoft.com/office/powerpoint/2010/main" val="307747248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A7638-90B0-2D2E-7BB8-F66EBEAA4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>
            <a:extLst>
              <a:ext uri="{FF2B5EF4-FFF2-40B4-BE49-F238E27FC236}">
                <a16:creationId xmlns:a16="http://schemas.microsoft.com/office/drawing/2014/main" id="{A550C953-AE94-58E6-B5F5-E006FF96C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2" y="238350"/>
            <a:ext cx="1853690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None/>
            </a:pPr>
            <a:r>
              <a:rPr lang="en-US" altLang="zh-CN" sz="1800" b="1" dirty="0">
                <a:ea typeface="SimSun" pitchFamily="2" charset="-122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A75CF7-D0DF-963A-5EE4-0903ED09A451}"/>
              </a:ext>
            </a:extLst>
          </p:cNvPr>
          <p:cNvSpPr txBox="1"/>
          <p:nvPr/>
        </p:nvSpPr>
        <p:spPr>
          <a:xfrm>
            <a:off x="215020" y="924880"/>
            <a:ext cx="4956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Software and Data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Archtecure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C0F250-CE30-8B6D-D77D-9D3E8BC8B1B4}"/>
              </a:ext>
            </a:extLst>
          </p:cNvPr>
          <p:cNvSpPr txBox="1"/>
          <p:nvPr/>
        </p:nvSpPr>
        <p:spPr>
          <a:xfrm>
            <a:off x="918850" y="3979634"/>
            <a:ext cx="44860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hangingPunct="0">
              <a:buFontTx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Data Flow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85E95A-1063-20B1-673E-5BE74C790F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0" t="1" r="692" b="3064"/>
          <a:stretch>
            <a:fillRect/>
          </a:stretch>
        </p:blipFill>
        <p:spPr>
          <a:xfrm>
            <a:off x="1073590" y="1410539"/>
            <a:ext cx="7758820" cy="25988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CF5A36-0761-3F09-1D6C-59AFD8FF5D72}"/>
              </a:ext>
            </a:extLst>
          </p:cNvPr>
          <p:cNvSpPr txBox="1"/>
          <p:nvPr/>
        </p:nvSpPr>
        <p:spPr>
          <a:xfrm>
            <a:off x="621294" y="4455792"/>
            <a:ext cx="910099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To maximize mission reliability and data throughput, the software architecture employs a </a:t>
            </a:r>
            <a:r>
              <a:rPr lang="en-US" sz="1800" b="1" dirty="0"/>
              <a:t>Dual-Link Transmission Strategy</a:t>
            </a:r>
            <a:r>
              <a:rPr lang="en-US" sz="1800" dirty="0"/>
              <a:t>. Instead of relying on a single point of failure, the system separates critical flight data from high-bandwidth payload data, effectively utilizing both the </a:t>
            </a:r>
            <a:r>
              <a:rPr lang="en-US" sz="1800" b="1" dirty="0" err="1"/>
              <a:t>XBee</a:t>
            </a:r>
            <a:r>
              <a:rPr lang="en-US" sz="1800" b="1" dirty="0"/>
              <a:t> 900HP</a:t>
            </a:r>
            <a:r>
              <a:rPr lang="en-US" sz="1800" dirty="0"/>
              <a:t> and the legacy </a:t>
            </a:r>
            <a:r>
              <a:rPr lang="en-US" sz="1800" b="1" dirty="0"/>
              <a:t>Beacon</a:t>
            </a:r>
            <a:r>
              <a:rPr lang="en-US" sz="1800" dirty="0"/>
              <a:t> systems.</a:t>
            </a:r>
          </a:p>
        </p:txBody>
      </p:sp>
    </p:spTree>
    <p:extLst>
      <p:ext uri="{BB962C8B-B14F-4D97-AF65-F5344CB8AC3E}">
        <p14:creationId xmlns:p14="http://schemas.microsoft.com/office/powerpoint/2010/main" val="113615579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3B4F4-903B-0190-D3F3-C97B0D7B1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>
            <a:extLst>
              <a:ext uri="{FF2B5EF4-FFF2-40B4-BE49-F238E27FC236}">
                <a16:creationId xmlns:a16="http://schemas.microsoft.com/office/drawing/2014/main" id="{6F11B6A8-9E7B-06E8-8FEF-3CC71B825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2" y="238350"/>
            <a:ext cx="2055669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None/>
            </a:pPr>
            <a:r>
              <a:rPr lang="en-US" altLang="zh-CN" sz="1800" b="1" dirty="0">
                <a:ea typeface="SimSun" pitchFamily="2" charset="-122"/>
              </a:rPr>
              <a:t>Pending Tasks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3A64D-0BC0-F6D5-4BCD-FA8E372F1265}"/>
              </a:ext>
            </a:extLst>
          </p:cNvPr>
          <p:cNvSpPr txBox="1"/>
          <p:nvPr/>
        </p:nvSpPr>
        <p:spPr>
          <a:xfrm>
            <a:off x="0" y="1197152"/>
            <a:ext cx="8298919" cy="3568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1800" dirty="0"/>
              <a:t>Here are the ending tasks as per the project proposal is concerned.</a:t>
            </a:r>
          </a:p>
          <a:p>
            <a:pPr lvl="1"/>
            <a:endParaRPr lang="en-US" sz="1800" dirty="0"/>
          </a:p>
          <a:p>
            <a:pPr marL="742950" lvl="1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1800" dirty="0"/>
              <a:t>Design circuits for etching using </a:t>
            </a:r>
            <a:r>
              <a:rPr lang="en-US" sz="1800" dirty="0" err="1"/>
              <a:t>easyEDA</a:t>
            </a:r>
            <a:r>
              <a:rPr lang="en-US" sz="1800" dirty="0"/>
              <a:t>.</a:t>
            </a:r>
          </a:p>
          <a:p>
            <a:pPr marL="742950" lvl="1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1800" dirty="0"/>
              <a:t>Design the Battery and chute monitoring </a:t>
            </a:r>
            <a:r>
              <a:rPr lang="en-US" sz="1800" dirty="0" err="1"/>
              <a:t>sustems</a:t>
            </a:r>
            <a:r>
              <a:rPr lang="en-US" sz="1800" dirty="0"/>
              <a:t>.</a:t>
            </a:r>
          </a:p>
          <a:p>
            <a:pPr marL="742950" lvl="1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1800" dirty="0" err="1"/>
              <a:t>Optimise</a:t>
            </a:r>
            <a:r>
              <a:rPr lang="en-US" sz="1800" dirty="0"/>
              <a:t> the present explosion cap</a:t>
            </a:r>
          </a:p>
          <a:p>
            <a:pPr marL="742950" lvl="1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1800" dirty="0"/>
              <a:t>Static analysis of </a:t>
            </a:r>
            <a:r>
              <a:rPr lang="en-US" sz="1800" dirty="0" err="1"/>
              <a:t>Esplosion</a:t>
            </a:r>
            <a:r>
              <a:rPr lang="en-US" sz="1800" dirty="0"/>
              <a:t> CAP and the FC holder</a:t>
            </a:r>
          </a:p>
        </p:txBody>
      </p:sp>
    </p:spTree>
    <p:extLst>
      <p:ext uri="{BB962C8B-B14F-4D97-AF65-F5344CB8AC3E}">
        <p14:creationId xmlns:p14="http://schemas.microsoft.com/office/powerpoint/2010/main" val="42255834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 Box 5"/>
          <p:cNvSpPr txBox="1">
            <a:spLocks noChangeArrowheads="1"/>
          </p:cNvSpPr>
          <p:nvPr/>
        </p:nvSpPr>
        <p:spPr bwMode="auto">
          <a:xfrm>
            <a:off x="260745" y="842893"/>
            <a:ext cx="9100537" cy="477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1600" b="1" dirty="0"/>
              <a:t>Operational Reliability:</a:t>
            </a:r>
            <a:endParaRPr lang="en-US" sz="1600" dirty="0"/>
          </a:p>
          <a:p>
            <a:pPr lvl="1"/>
            <a:r>
              <a:rPr lang="en-US" sz="1600" b="1" dirty="0"/>
              <a:t>Telemetry:</a:t>
            </a:r>
            <a:r>
              <a:rPr lang="en-US" sz="1600" dirty="0"/>
              <a:t> Continuous data stream up to </a:t>
            </a:r>
            <a:r>
              <a:rPr lang="en-US" sz="1600" b="1" dirty="0"/>
              <a:t>5 km</a:t>
            </a:r>
            <a:r>
              <a:rPr lang="en-US" sz="1600" dirty="0"/>
              <a:t> altitude with </a:t>
            </a:r>
            <a:r>
              <a:rPr lang="en-US" sz="1600" b="1" dirty="0"/>
              <a:t>&lt;5% packet loss</a:t>
            </a:r>
            <a:r>
              <a:rPr lang="en-US" sz="1600" dirty="0"/>
              <a:t> using </a:t>
            </a:r>
            <a:r>
              <a:rPr lang="en-US" sz="1600" dirty="0" err="1"/>
              <a:t>XBee</a:t>
            </a:r>
            <a:r>
              <a:rPr lang="en-US" sz="1600" dirty="0"/>
              <a:t>-PRO 900HP.</a:t>
            </a:r>
          </a:p>
          <a:p>
            <a:pPr lvl="1"/>
            <a:endParaRPr lang="en-US" sz="1600" dirty="0"/>
          </a:p>
          <a:p>
            <a:pPr lvl="1"/>
            <a:r>
              <a:rPr lang="en-US" sz="1600" b="1" dirty="0"/>
              <a:t>Safe Recovery:</a:t>
            </a:r>
            <a:r>
              <a:rPr lang="en-US" sz="1600" dirty="0"/>
              <a:t> Successful parachute deployment with </a:t>
            </a:r>
            <a:r>
              <a:rPr lang="en-US" sz="1600" b="1" dirty="0"/>
              <a:t>zero thermal damage</a:t>
            </a:r>
            <a:r>
              <a:rPr lang="en-US" sz="1600" dirty="0"/>
              <a:t> to the canopy, achieved via the </a:t>
            </a:r>
            <a:r>
              <a:rPr lang="en-US" sz="1600" b="1" dirty="0"/>
              <a:t>Sealed Explosion Cap</a:t>
            </a:r>
            <a:r>
              <a:rPr lang="en-US" sz="1600" dirty="0"/>
              <a:t> and </a:t>
            </a:r>
            <a:r>
              <a:rPr lang="en-US" sz="1600" b="1" dirty="0"/>
              <a:t>PWM Ignition</a:t>
            </a:r>
            <a:r>
              <a:rPr lang="en-US" sz="1600" dirty="0"/>
              <a:t>.</a:t>
            </a:r>
          </a:p>
          <a:p>
            <a:pPr lvl="1"/>
            <a:endParaRPr lang="en-US" sz="1600" dirty="0"/>
          </a:p>
          <a:p>
            <a:r>
              <a:rPr lang="en-US" sz="1600" b="1" dirty="0"/>
              <a:t>System Integrity:</a:t>
            </a:r>
            <a:endParaRPr lang="en-US" sz="1600" dirty="0"/>
          </a:p>
          <a:p>
            <a:pPr lvl="1"/>
            <a:r>
              <a:rPr lang="en-US" sz="1600" b="1" dirty="0"/>
              <a:t>Electronics:</a:t>
            </a:r>
            <a:r>
              <a:rPr lang="en-US" sz="1600" dirty="0"/>
              <a:t> A custom-fabricated </a:t>
            </a:r>
            <a:r>
              <a:rPr lang="en-US" sz="1600" b="1" dirty="0"/>
              <a:t>PCB</a:t>
            </a:r>
            <a:r>
              <a:rPr lang="en-US" sz="1600" dirty="0"/>
              <a:t> that eliminates wire fatigue and ensures reliable connections under vibration.</a:t>
            </a:r>
          </a:p>
          <a:p>
            <a:pPr lvl="1"/>
            <a:endParaRPr lang="en-US" sz="1600" dirty="0"/>
          </a:p>
          <a:p>
            <a:pPr lvl="1"/>
            <a:r>
              <a:rPr lang="en-US" sz="1600" b="1" dirty="0"/>
              <a:t>Mechanical:</a:t>
            </a:r>
            <a:r>
              <a:rPr lang="en-US" sz="1600" dirty="0"/>
              <a:t> A vibration-proof, 3D-printed avionics holder that maintains Center of Gravity (CG) stability.</a:t>
            </a:r>
          </a:p>
          <a:p>
            <a:pPr lvl="1"/>
            <a:endParaRPr lang="en-US" sz="1600" dirty="0"/>
          </a:p>
          <a:p>
            <a:r>
              <a:rPr lang="en-US" sz="1600" b="1" dirty="0"/>
              <a:t>User Feedback (Ground Station):</a:t>
            </a:r>
            <a:endParaRPr lang="en-US" sz="1600" dirty="0"/>
          </a:p>
          <a:p>
            <a:pPr lvl="1"/>
            <a:r>
              <a:rPr lang="en-US" sz="1600" dirty="0"/>
              <a:t>Real-time monitoring of </a:t>
            </a:r>
            <a:r>
              <a:rPr lang="en-US" sz="1600" b="1" dirty="0"/>
              <a:t>Battery Voltage</a:t>
            </a:r>
            <a:r>
              <a:rPr lang="en-US" sz="1600" dirty="0"/>
              <a:t>, </a:t>
            </a:r>
            <a:r>
              <a:rPr lang="en-US" sz="1600" b="1" dirty="0"/>
              <a:t>Igniter Continuity</a:t>
            </a:r>
            <a:r>
              <a:rPr lang="en-US" sz="1600" dirty="0"/>
              <a:t>, and </a:t>
            </a:r>
            <a:r>
              <a:rPr lang="en-US" sz="1600" b="1" dirty="0"/>
              <a:t>GPS Position</a:t>
            </a:r>
            <a:r>
              <a:rPr lang="en-US" sz="1600" dirty="0"/>
              <a:t>.</a:t>
            </a:r>
          </a:p>
          <a:p>
            <a:pPr lvl="1"/>
            <a:r>
              <a:rPr lang="en-US" sz="1600" dirty="0"/>
              <a:t>Automatic </a:t>
            </a:r>
            <a:r>
              <a:rPr lang="en-US" sz="1600" b="1" dirty="0"/>
              <a:t>"Launch Inhibit"</a:t>
            </a:r>
            <a:r>
              <a:rPr lang="en-US" sz="1600" dirty="0"/>
              <a:t> safety protocol if main battery voltage drops below 14.0V.</a:t>
            </a:r>
            <a:endParaRPr lang="en-US" sz="1600" dirty="0">
              <a:effectLst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3892" y="238350"/>
            <a:ext cx="2740150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None/>
            </a:pPr>
            <a:r>
              <a:rPr lang="en-US" altLang="zh-CN" sz="1800" b="1" dirty="0">
                <a:ea typeface="SimSun" pitchFamily="2" charset="-122"/>
              </a:rPr>
              <a:t>Expected Outcomes</a:t>
            </a:r>
          </a:p>
        </p:txBody>
      </p:sp>
    </p:spTree>
    <p:extLst>
      <p:ext uri="{BB962C8B-B14F-4D97-AF65-F5344CB8AC3E}">
        <p14:creationId xmlns:p14="http://schemas.microsoft.com/office/powerpoint/2010/main" val="415570316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 Box 5"/>
          <p:cNvSpPr txBox="1">
            <a:spLocks noChangeArrowheads="1"/>
          </p:cNvSpPr>
          <p:nvPr/>
        </p:nvSpPr>
        <p:spPr bwMode="auto">
          <a:xfrm>
            <a:off x="52517" y="761412"/>
            <a:ext cx="592643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eaLnBrk="1" hangingPunct="1">
              <a:spcBef>
                <a:spcPts val="600"/>
              </a:spcBef>
              <a:buSzPct val="75000"/>
            </a:pPr>
            <a:r>
              <a:rPr lang="en-US" altLang="de-DE" sz="1600" b="1" dirty="0"/>
              <a:t>Budget</a:t>
            </a:r>
            <a:r>
              <a:rPr lang="en-US" altLang="de-DE" sz="1600" dirty="0"/>
              <a:t>	</a:t>
            </a:r>
          </a:p>
          <a:p>
            <a:pPr marL="380250" lvl="1" indent="0" eaLnBrk="1" hangingPunct="1">
              <a:buClr>
                <a:schemeClr val="tx1"/>
              </a:buClr>
              <a:buSzPct val="130000"/>
              <a:tabLst>
                <a:tab pos="400050" algn="l"/>
                <a:tab pos="901700" algn="l"/>
                <a:tab pos="1168400" algn="l"/>
              </a:tabLst>
            </a:pPr>
            <a:endParaRPr lang="de-DE" altLang="de-DE" sz="1600" dirty="0"/>
          </a:p>
          <a:p>
            <a:pPr marL="380250" lvl="1" indent="0" eaLnBrk="1" hangingPunct="1">
              <a:buClr>
                <a:schemeClr val="tx1"/>
              </a:buClr>
              <a:buSzPct val="130000"/>
              <a:tabLst>
                <a:tab pos="400050" algn="l"/>
                <a:tab pos="901700" algn="l"/>
                <a:tab pos="1168400" algn="l"/>
              </a:tabLst>
            </a:pPr>
            <a:endParaRPr lang="de-DE" altLang="de-DE" sz="1600" dirty="0"/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3892" y="238350"/>
            <a:ext cx="1106691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None/>
            </a:pPr>
            <a:r>
              <a:rPr lang="en-US" altLang="zh-CN" sz="1800" b="1" dirty="0">
                <a:ea typeface="SimSun" pitchFamily="2" charset="-122"/>
              </a:rPr>
              <a:t>Budget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45D090-6A1A-1459-FCD4-9EE771D5C279}"/>
              </a:ext>
            </a:extLst>
          </p:cNvPr>
          <p:cNvSpPr txBox="1"/>
          <p:nvPr/>
        </p:nvSpPr>
        <p:spPr>
          <a:xfrm>
            <a:off x="339550" y="5575147"/>
            <a:ext cx="29099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Items with * Are already Purchased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30259C-6BFE-B039-7BCD-76AE8AB142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586191"/>
              </p:ext>
            </p:extLst>
          </p:nvPr>
        </p:nvGraphicFramePr>
        <p:xfrm>
          <a:off x="116209" y="1090676"/>
          <a:ext cx="9737274" cy="552897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39635">
                  <a:extLst>
                    <a:ext uri="{9D8B030D-6E8A-4147-A177-3AD203B41FA5}">
                      <a16:colId xmlns:a16="http://schemas.microsoft.com/office/drawing/2014/main" val="601210187"/>
                    </a:ext>
                  </a:extLst>
                </a:gridCol>
                <a:gridCol w="5014054">
                  <a:extLst>
                    <a:ext uri="{9D8B030D-6E8A-4147-A177-3AD203B41FA5}">
                      <a16:colId xmlns:a16="http://schemas.microsoft.com/office/drawing/2014/main" val="1863483854"/>
                    </a:ext>
                  </a:extLst>
                </a:gridCol>
                <a:gridCol w="396224">
                  <a:extLst>
                    <a:ext uri="{9D8B030D-6E8A-4147-A177-3AD203B41FA5}">
                      <a16:colId xmlns:a16="http://schemas.microsoft.com/office/drawing/2014/main" val="3879523922"/>
                    </a:ext>
                  </a:extLst>
                </a:gridCol>
                <a:gridCol w="1056598">
                  <a:extLst>
                    <a:ext uri="{9D8B030D-6E8A-4147-A177-3AD203B41FA5}">
                      <a16:colId xmlns:a16="http://schemas.microsoft.com/office/drawing/2014/main" val="3108028116"/>
                    </a:ext>
                  </a:extLst>
                </a:gridCol>
                <a:gridCol w="1430763">
                  <a:extLst>
                    <a:ext uri="{9D8B030D-6E8A-4147-A177-3AD203B41FA5}">
                      <a16:colId xmlns:a16="http://schemas.microsoft.com/office/drawing/2014/main" val="3585631656"/>
                    </a:ext>
                  </a:extLst>
                </a:gridCol>
              </a:tblGrid>
              <a:tr h="53944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Item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Description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Cost (KES)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Total (KES)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34772275"/>
                  </a:ext>
                </a:extLst>
              </a:tr>
              <a:tr h="53944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Telemetry Modules*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Digi </a:t>
                      </a:r>
                      <a:r>
                        <a:rPr lang="en-US" sz="1400" dirty="0" err="1">
                          <a:solidFill>
                            <a:srgbClr val="1F1F1F"/>
                          </a:solidFill>
                          <a:effectLst/>
                        </a:rPr>
                        <a:t>XBee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-PRO 900HP (Long Range)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2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15,000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30,000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514097291"/>
                  </a:ext>
                </a:extLst>
              </a:tr>
              <a:tr h="3407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Antennas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900MHz High Gain Antenna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2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2,000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4,000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518907729"/>
                  </a:ext>
                </a:extLst>
              </a:tr>
              <a:tr h="3478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Copper Cladding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PCB Board (15 x 20 cm)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3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200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600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601460710"/>
                  </a:ext>
                </a:extLst>
              </a:tr>
              <a:tr h="3478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Microcontroller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ESP32 Development Board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1,800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1,800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824983057"/>
                  </a:ext>
                </a:extLst>
              </a:tr>
              <a:tr h="3478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Sensors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BMP180 + MPU6050 Module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4,710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4,710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63131084"/>
                  </a:ext>
                </a:extLst>
              </a:tr>
              <a:tr h="3478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Mosfets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IRLZ44N (Pack of 5)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1,000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1,000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557063608"/>
                  </a:ext>
                </a:extLst>
              </a:tr>
              <a:tr h="3478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Pyrotechnics*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Black/Crimson Powder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1,600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1,600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500345831"/>
                  </a:ext>
                </a:extLst>
              </a:tr>
              <a:tr h="3478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Mechanical Parts*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Threaded Rods &amp; Hardware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1,000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1,000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521274264"/>
                  </a:ext>
                </a:extLst>
              </a:tr>
              <a:tr h="3478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Filament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PLA (1kg Roll)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3,000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3,000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601787047"/>
                  </a:ext>
                </a:extLst>
              </a:tr>
              <a:tr h="3478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Batteries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Lithium-Ion Cells (18650)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4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500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2,000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07058118"/>
                  </a:ext>
                </a:extLst>
              </a:tr>
              <a:tr h="53944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</a:rPr>
                        <a:t>Total (With Purchased)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49,710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602801734"/>
                  </a:ext>
                </a:extLst>
              </a:tr>
              <a:tr h="53944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</a:rPr>
                        <a:t>Total (Without Purchased)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13,110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809027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752972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 Box 5"/>
          <p:cNvSpPr txBox="1">
            <a:spLocks noChangeArrowheads="1"/>
          </p:cNvSpPr>
          <p:nvPr/>
        </p:nvSpPr>
        <p:spPr bwMode="auto">
          <a:xfrm>
            <a:off x="52517" y="761412"/>
            <a:ext cx="5926438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901700" algn="l"/>
                <a:tab pos="1168400" algn="l"/>
              </a:tabLs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eaLnBrk="1" hangingPunct="1">
              <a:spcBef>
                <a:spcPts val="600"/>
              </a:spcBef>
              <a:buSzPct val="75000"/>
            </a:pPr>
            <a:r>
              <a:rPr lang="en-US" altLang="de-DE" sz="1600" b="1" dirty="0"/>
              <a:t>Time plan</a:t>
            </a:r>
          </a:p>
          <a:p>
            <a:pPr eaLnBrk="1" hangingPunct="1">
              <a:spcBef>
                <a:spcPts val="600"/>
              </a:spcBef>
              <a:buSzPct val="75000"/>
            </a:pPr>
            <a:endParaRPr lang="en-US" altLang="de-DE" sz="1600" b="1" dirty="0"/>
          </a:p>
          <a:p>
            <a:pPr eaLnBrk="1" hangingPunct="1">
              <a:spcBef>
                <a:spcPts val="600"/>
              </a:spcBef>
              <a:buSzPct val="75000"/>
            </a:pPr>
            <a:endParaRPr lang="en-US" altLang="de-DE" sz="1600" b="1" dirty="0"/>
          </a:p>
          <a:p>
            <a:pPr marL="380250" lvl="1" indent="0" eaLnBrk="1" hangingPunct="1">
              <a:buClr>
                <a:schemeClr val="tx1"/>
              </a:buClr>
              <a:buSzPct val="130000"/>
              <a:tabLst>
                <a:tab pos="400050" algn="l"/>
                <a:tab pos="901700" algn="l"/>
                <a:tab pos="1168400" algn="l"/>
              </a:tabLst>
            </a:pPr>
            <a:endParaRPr lang="de-DE" altLang="de-DE" sz="1600" dirty="0"/>
          </a:p>
          <a:p>
            <a:pPr marL="380250" lvl="1" indent="0" eaLnBrk="1" hangingPunct="1">
              <a:buClr>
                <a:schemeClr val="tx1"/>
              </a:buClr>
              <a:buSzPct val="130000"/>
              <a:tabLst>
                <a:tab pos="400050" algn="l"/>
                <a:tab pos="901700" algn="l"/>
                <a:tab pos="1168400" algn="l"/>
              </a:tabLst>
            </a:pPr>
            <a:endParaRPr lang="de-DE" altLang="de-DE" sz="1600" dirty="0"/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3892" y="238350"/>
            <a:ext cx="1374392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1"/>
              </a:buClr>
              <a:buFont typeface="Verdana" pitchFamily="34" charset="0"/>
              <a:buNone/>
            </a:pPr>
            <a:r>
              <a:rPr lang="en-US" altLang="zh-CN" sz="1800" b="1" dirty="0" err="1">
                <a:ea typeface="SimSun" pitchFamily="2" charset="-122"/>
              </a:rPr>
              <a:t>Timeplan</a:t>
            </a:r>
            <a:endParaRPr lang="en-US" altLang="zh-CN" sz="1800" b="1" dirty="0">
              <a:ea typeface="SimSun" pitchFamily="2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EDBF82-4E19-F171-ABB0-FC92438F4D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3" t="1521" r="4267"/>
          <a:stretch>
            <a:fillRect/>
          </a:stretch>
        </p:blipFill>
        <p:spPr>
          <a:xfrm>
            <a:off x="1013987" y="1027264"/>
            <a:ext cx="7016435" cy="506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70499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354747" y="2840540"/>
            <a:ext cx="721550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de-DE" sz="3200" b="1" dirty="0"/>
              <a:t>Thank you for your attention.</a:t>
            </a:r>
          </a:p>
        </p:txBody>
      </p:sp>
      <p:sp>
        <p:nvSpPr>
          <p:cNvPr id="2" name="AutoShape 2" descr="layout image">
            <a:extLst>
              <a:ext uri="{FF2B5EF4-FFF2-40B4-BE49-F238E27FC236}">
                <a16:creationId xmlns:a16="http://schemas.microsoft.com/office/drawing/2014/main" id="{2902CC53-D365-D18D-32CC-213C85AA53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3276600"/>
            <a:ext cx="960422" cy="960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034569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8_Vortrag 1302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8_Vortrag 1302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accent1"/>
          </a:buClr>
          <a:buSzTx/>
          <a:buFont typeface="Verdana" pitchFamily="34" charset="0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accent1"/>
          </a:buClr>
          <a:buSzTx/>
          <a:buFont typeface="Verdana" pitchFamily="34" charset="0"/>
          <a:buChar char="n"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Vortrag 130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A1914"/>
        </a:accent1>
        <a:accent2>
          <a:srgbClr val="002F5C"/>
        </a:accent2>
        <a:accent3>
          <a:srgbClr val="FFFFFF"/>
        </a:accent3>
        <a:accent4>
          <a:srgbClr val="000000"/>
        </a:accent4>
        <a:accent5>
          <a:srgbClr val="FCABAA"/>
        </a:accent5>
        <a:accent6>
          <a:srgbClr val="002A53"/>
        </a:accent6>
        <a:hlink>
          <a:srgbClr val="81A7CD"/>
        </a:hlink>
        <a:folHlink>
          <a:srgbClr val="EDEDE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ortrag 1302 2">
        <a:dk1>
          <a:srgbClr val="808080"/>
        </a:dk1>
        <a:lt1>
          <a:srgbClr val="FFFFFF"/>
        </a:lt1>
        <a:dk2>
          <a:srgbClr val="00257E"/>
        </a:dk2>
        <a:lt2>
          <a:srgbClr val="FFFFFF"/>
        </a:lt2>
        <a:accent1>
          <a:srgbClr val="FA1914"/>
        </a:accent1>
        <a:accent2>
          <a:srgbClr val="FFFFFF"/>
        </a:accent2>
        <a:accent3>
          <a:srgbClr val="AAACC0"/>
        </a:accent3>
        <a:accent4>
          <a:srgbClr val="DADADA"/>
        </a:accent4>
        <a:accent5>
          <a:srgbClr val="FCABAA"/>
        </a:accent5>
        <a:accent6>
          <a:srgbClr val="E7E7E7"/>
        </a:accent6>
        <a:hlink>
          <a:srgbClr val="81A7CD"/>
        </a:hlink>
        <a:folHlink>
          <a:srgbClr val="EDEDE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393939"/>
      </a:lt2>
      <a:accent1>
        <a:srgbClr val="CBCBCB"/>
      </a:accent1>
      <a:accent2>
        <a:srgbClr val="868686"/>
      </a:accent2>
      <a:accent3>
        <a:srgbClr val="FFFFFF"/>
      </a:accent3>
      <a:accent4>
        <a:srgbClr val="000000"/>
      </a:accent4>
      <a:accent5>
        <a:srgbClr val="E2E2E2"/>
      </a:accent5>
      <a:accent6>
        <a:srgbClr val="797979"/>
      </a:accent6>
      <a:hlink>
        <a:srgbClr val="4D4D4D"/>
      </a:hlink>
      <a:folHlink>
        <a:srgbClr val="EAEAE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393939"/>
      </a:lt2>
      <a:accent1>
        <a:srgbClr val="CBCBCB"/>
      </a:accent1>
      <a:accent2>
        <a:srgbClr val="868686"/>
      </a:accent2>
      <a:accent3>
        <a:srgbClr val="FFFFFF"/>
      </a:accent3>
      <a:accent4>
        <a:srgbClr val="000000"/>
      </a:accent4>
      <a:accent5>
        <a:srgbClr val="E2E2E2"/>
      </a:accent5>
      <a:accent6>
        <a:srgbClr val="797979"/>
      </a:accent6>
      <a:hlink>
        <a:srgbClr val="4D4D4D"/>
      </a:hlink>
      <a:folHlink>
        <a:srgbClr val="EAEAE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7A50033-979E-410F-A4B0-F7CF18626BC8}">
  <we:reference id="wa200005566" version="3.0.0.3" store="en-US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1614</TotalTime>
  <Pages>1</Pages>
  <Words>1073</Words>
  <Application>Microsoft Office PowerPoint</Application>
  <PresentationFormat>A4 Paper (210x297 mm)</PresentationFormat>
  <Paragraphs>190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SimSun</vt:lpstr>
      <vt:lpstr>Arial</vt:lpstr>
      <vt:lpstr>Google Sans Text</vt:lpstr>
      <vt:lpstr>Verdana</vt:lpstr>
      <vt:lpstr>Wingdings</vt:lpstr>
      <vt:lpstr>8_Vortrag 1302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 Duisburg-Essen, SRS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0</dc:title>
  <dc:creator>Jackson Njiri</dc:creator>
  <cp:lastModifiedBy>Glenn Gatiba</cp:lastModifiedBy>
  <cp:revision>3795</cp:revision>
  <cp:lastPrinted>2016-02-14T18:30:22Z</cp:lastPrinted>
  <dcterms:created xsi:type="dcterms:W3CDTF">2003-01-23T10:26:02Z</dcterms:created>
  <dcterms:modified xsi:type="dcterms:W3CDTF">2026-03-02T20:03:47Z</dcterms:modified>
</cp:coreProperties>
</file>