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745" r:id="rId1"/>
  </p:sldMasterIdLst>
  <p:notesMasterIdLst>
    <p:notesMasterId r:id="rId16"/>
  </p:notesMasterIdLst>
  <p:handoutMasterIdLst>
    <p:handoutMasterId r:id="rId17"/>
  </p:handoutMasterIdLst>
  <p:sldIdLst>
    <p:sldId id="770" r:id="rId2"/>
    <p:sldId id="761" r:id="rId3"/>
    <p:sldId id="692" r:id="rId4"/>
    <p:sldId id="776" r:id="rId5"/>
    <p:sldId id="783" r:id="rId6"/>
    <p:sldId id="781" r:id="rId7"/>
    <p:sldId id="782" r:id="rId8"/>
    <p:sldId id="785" r:id="rId9"/>
    <p:sldId id="774" r:id="rId10"/>
    <p:sldId id="784" r:id="rId11"/>
    <p:sldId id="777" r:id="rId12"/>
    <p:sldId id="779" r:id="rId13"/>
    <p:sldId id="780" r:id="rId14"/>
    <p:sldId id="636" r:id="rId15"/>
  </p:sldIdLst>
  <p:sldSz cx="9906000" cy="6858000" type="A4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5" pos="6158">
          <p15:clr>
            <a:srgbClr val="A4A3A4"/>
          </p15:clr>
        </p15:guide>
        <p15:guide id="6" pos="3120" userDrawn="1">
          <p15:clr>
            <a:srgbClr val="A4A3A4"/>
          </p15:clr>
        </p15:guide>
        <p15:guide id="7" orient="horz" pos="360" userDrawn="1">
          <p15:clr>
            <a:srgbClr val="A4A3A4"/>
          </p15:clr>
        </p15:guide>
        <p15:guide id="9" orient="horz" pos="3725" userDrawn="1">
          <p15:clr>
            <a:srgbClr val="A4A3A4"/>
          </p15:clr>
        </p15:guide>
        <p15:guide id="10" orient="horz" pos="527" userDrawn="1">
          <p15:clr>
            <a:srgbClr val="A4A3A4"/>
          </p15:clr>
        </p15:guide>
        <p15:guide id="12" pos="81" userDrawn="1">
          <p15:clr>
            <a:srgbClr val="A4A3A4"/>
          </p15:clr>
        </p15:guide>
        <p15:guide id="13" orient="horz" pos="696" userDrawn="1">
          <p15:clr>
            <a:srgbClr val="A4A3A4"/>
          </p15:clr>
        </p15:guide>
        <p15:guide id="14" pos="2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5">
          <p15:clr>
            <a:srgbClr val="A4A3A4"/>
          </p15:clr>
        </p15:guide>
        <p15:guide id="2" pos="3107">
          <p15:clr>
            <a:srgbClr val="A4A3A4"/>
          </p15:clr>
        </p15:guide>
        <p15:guide id="3" orient="horz" pos="3129">
          <p15:clr>
            <a:srgbClr val="A4A3A4"/>
          </p15:clr>
        </p15:guide>
        <p15:guide id="4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EFAA"/>
    <a:srgbClr val="FF9900"/>
    <a:srgbClr val="99FF33"/>
    <a:srgbClr val="00339A"/>
    <a:srgbClr val="0066CC"/>
    <a:srgbClr val="C0C0C0"/>
    <a:srgbClr val="FF9966"/>
    <a:srgbClr val="9966FF"/>
    <a:srgbClr val="0066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237" autoAdjust="0"/>
  </p:normalViewPr>
  <p:slideViewPr>
    <p:cSldViewPr snapToGrid="0">
      <p:cViewPr varScale="1">
        <p:scale>
          <a:sx n="106" d="100"/>
          <a:sy n="106" d="100"/>
        </p:scale>
        <p:origin x="1548" y="108"/>
      </p:cViewPr>
      <p:guideLst>
        <p:guide orient="horz" pos="210"/>
        <p:guide orient="horz" pos="2160"/>
        <p:guide pos="6158"/>
        <p:guide pos="3120"/>
        <p:guide orient="horz" pos="360"/>
        <p:guide orient="horz" pos="3725"/>
        <p:guide orient="horz" pos="527"/>
        <p:guide pos="81"/>
        <p:guide orient="horz" pos="696"/>
        <p:guide pos="262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442" y="-654"/>
      </p:cViewPr>
      <p:guideLst>
        <p:guide orient="horz" pos="2125"/>
        <p:guide pos="3107"/>
        <p:guide orient="horz" pos="3129"/>
        <p:guide pos="214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72066" y="325035"/>
            <a:ext cx="2919401" cy="210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Fan Zhang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648327" y="325035"/>
            <a:ext cx="1681716" cy="210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2D05B061-EE4C-4181-816F-60B96C748CB4}" type="datetime1">
              <a:rPr lang="en-US" altLang="zh-CN"/>
              <a:pPr>
                <a:defRPr/>
              </a:pPr>
              <a:t>12/19/2025</a:t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72068" y="9443963"/>
            <a:ext cx="1610907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MathMod 09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720611" y="9443963"/>
            <a:ext cx="1609433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44B3A6AD-722C-46DB-B8B3-4767173EA5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1750" name="Line 7"/>
          <p:cNvSpPr>
            <a:spLocks noChangeShapeType="1"/>
          </p:cNvSpPr>
          <p:nvPr/>
        </p:nvSpPr>
        <p:spPr bwMode="auto">
          <a:xfrm>
            <a:off x="472062" y="505604"/>
            <a:ext cx="58579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  <p:sp>
        <p:nvSpPr>
          <p:cNvPr id="31751" name="Line 8"/>
          <p:cNvSpPr>
            <a:spLocks noChangeShapeType="1"/>
          </p:cNvSpPr>
          <p:nvPr/>
        </p:nvSpPr>
        <p:spPr bwMode="auto">
          <a:xfrm>
            <a:off x="470586" y="9435754"/>
            <a:ext cx="58565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82946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61202" y="321752"/>
            <a:ext cx="2914975" cy="29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spcBef>
                <a:spcPct val="0"/>
              </a:spcBef>
              <a:buClrTx/>
              <a:buFontTx/>
              <a:buNone/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/>
              <a:t>fan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260354" y="321752"/>
            <a:ext cx="1761375" cy="29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74221EFF-C0F3-4410-95F4-58A4207C516B}" type="datetime1">
              <a:rPr lang="en-US" altLang="zh-CN"/>
              <a:pPr>
                <a:defRPr/>
              </a:pPr>
              <a:t>12/19/2025</a:t>
            </a:fld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61202" y="9443963"/>
            <a:ext cx="2914975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spcBef>
                <a:spcPct val="0"/>
              </a:spcBef>
              <a:buClrTx/>
              <a:buFontTx/>
              <a:buNone/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/>
              <a:t>Werk Untertürkheim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83644" y="9442324"/>
            <a:ext cx="1838087" cy="34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8911E235-AA05-4F59-8EC8-23B4619EC7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1204" y="5257960"/>
            <a:ext cx="5260527" cy="378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Klicken Sie, um die Formate des Vorlagentextes zu bearbeiten</a:t>
            </a:r>
          </a:p>
          <a:p>
            <a:pPr lvl="1"/>
            <a:r>
              <a:rPr lang="en-US" altLang="zh-CN" noProof="0"/>
              <a:t>Zweite Ebene</a:t>
            </a:r>
          </a:p>
          <a:p>
            <a:pPr lvl="2"/>
            <a:r>
              <a:rPr lang="en-US" altLang="zh-CN" noProof="0"/>
              <a:t>Dritte Ebene</a:t>
            </a:r>
          </a:p>
          <a:p>
            <a:pPr lvl="3"/>
            <a:r>
              <a:rPr lang="en-US" altLang="zh-CN" noProof="0"/>
              <a:t>Vierte Ebene</a:t>
            </a:r>
          </a:p>
          <a:p>
            <a:pPr lvl="4"/>
            <a:r>
              <a:rPr lang="en-US" altLang="zh-CN" noProof="0"/>
              <a:t>Fünfte Ebene</a:t>
            </a:r>
          </a:p>
        </p:txBody>
      </p:sp>
      <p:sp>
        <p:nvSpPr>
          <p:cNvPr id="2458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0725" y="1014413"/>
            <a:ext cx="5357813" cy="370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4" name="Line 9"/>
          <p:cNvSpPr>
            <a:spLocks noChangeShapeType="1"/>
          </p:cNvSpPr>
          <p:nvPr/>
        </p:nvSpPr>
        <p:spPr bwMode="auto">
          <a:xfrm>
            <a:off x="761204" y="515452"/>
            <a:ext cx="52605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761204" y="9435754"/>
            <a:ext cx="52605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2883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1588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3175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4763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6350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 txBox="1">
            <a:spLocks noGrp="1" noChangeArrowheads="1"/>
          </p:cNvSpPr>
          <p:nvPr/>
        </p:nvSpPr>
        <p:spPr bwMode="auto">
          <a:xfrm>
            <a:off x="4260354" y="321752"/>
            <a:ext cx="1761375" cy="29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/>
            <a:fld id="{BA89DE42-73D8-4EB6-A7E9-3567880E7B4D}" type="datetime1">
              <a:rPr lang="en-US" altLang="zh-CN" sz="1000"/>
              <a:pPr algn="r"/>
              <a:t>12/19/2025</a:t>
            </a:fld>
            <a:endParaRPr lang="en-US" altLang="zh-CN" sz="1000" dirty="0"/>
          </a:p>
        </p:txBody>
      </p:sp>
      <p:sp>
        <p:nvSpPr>
          <p:cNvPr id="26627" name="Rectangle 5"/>
          <p:cNvSpPr txBox="1">
            <a:spLocks noGrp="1" noChangeArrowheads="1"/>
          </p:cNvSpPr>
          <p:nvPr/>
        </p:nvSpPr>
        <p:spPr bwMode="auto">
          <a:xfrm>
            <a:off x="4183644" y="9442324"/>
            <a:ext cx="1838087" cy="34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/>
            <a:fld id="{5C120066-EC2B-4589-98D7-50AF69685A5E}" type="slidenum">
              <a:rPr lang="en-US" altLang="zh-CN" sz="1000"/>
              <a:pPr algn="r"/>
              <a:t>1</a:t>
            </a:fld>
            <a:endParaRPr lang="en-US" altLang="zh-CN" sz="1000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9138" y="1057275"/>
            <a:ext cx="5365750" cy="3714750"/>
          </a:xfrm>
          <a:ln/>
        </p:spPr>
      </p:sp>
    </p:spTree>
    <p:extLst>
      <p:ext uri="{BB962C8B-B14F-4D97-AF65-F5344CB8AC3E}">
        <p14:creationId xmlns:p14="http://schemas.microsoft.com/office/powerpoint/2010/main" val="3852555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1363" y="782638"/>
            <a:ext cx="5314950" cy="3679825"/>
          </a:xfrm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768" y="4694897"/>
            <a:ext cx="4986142" cy="446015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07984" eaLnBrk="1" hangingPunct="1"/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67673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1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Oval 2078"/>
          <p:cNvSpPr>
            <a:spLocks noChangeArrowheads="1"/>
          </p:cNvSpPr>
          <p:nvPr/>
        </p:nvSpPr>
        <p:spPr bwMode="auto">
          <a:xfrm>
            <a:off x="1501775" y="2652713"/>
            <a:ext cx="3114675" cy="38893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 sz="1800">
              <a:ea typeface="SimSun" pitchFamily="2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2553144" y="4320578"/>
            <a:ext cx="4810887" cy="1338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>
                <a:cs typeface="Arial" pitchFamily="34" charset="0"/>
              </a:rPr>
              <a:t>ENM221-0149/2021 – Glenn Kanyi</a:t>
            </a:r>
          </a:p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>
                <a:cs typeface="Arial" pitchFamily="34" charset="0"/>
              </a:rPr>
              <a:t>ENM221-0249/2021 – Ian Joseph</a:t>
            </a:r>
          </a:p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endParaRPr lang="en-US" sz="1800" b="0" dirty="0">
              <a:cs typeface="Arial" pitchFamily="34" charset="0"/>
            </a:endParaRPr>
          </a:p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/>
              <a:t>18.12.2025</a:t>
            </a:r>
            <a:endParaRPr lang="en-US" altLang="zh-CN" sz="1800" b="0" dirty="0">
              <a:ea typeface="SimSun" pitchFamily="2" charset="-122"/>
              <a:cs typeface="+mn-cs"/>
            </a:endParaRPr>
          </a:p>
        </p:txBody>
      </p:sp>
      <p:sp>
        <p:nvSpPr>
          <p:cNvPr id="17" name="Rounded Rectangle 11"/>
          <p:cNvSpPr/>
          <p:nvPr userDrawn="1"/>
        </p:nvSpPr>
        <p:spPr>
          <a:xfrm>
            <a:off x="0" y="-5326"/>
            <a:ext cx="9906000" cy="2025502"/>
          </a:xfrm>
          <a:prstGeom prst="roundRect">
            <a:avLst>
              <a:gd name="adj" fmla="val 7136"/>
            </a:avLst>
          </a:prstGeom>
          <a:gradFill>
            <a:gsLst>
              <a:gs pos="0">
                <a:srgbClr val="92D050"/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hidden">
          <a:xfrm>
            <a:off x="5556" y="527395"/>
            <a:ext cx="9906000" cy="1809049"/>
            <a:chOff x="-3905251" y="4294188"/>
            <a:chExt cx="13401519" cy="1892300"/>
          </a:xfrm>
        </p:grpSpPr>
        <p:sp>
          <p:nvSpPr>
            <p:cNvPr id="19" name="Freeform 14"/>
            <p:cNvSpPr>
              <a:spLocks/>
            </p:cNvSpPr>
            <p:nvPr/>
          </p:nvSpPr>
          <p:spPr bwMode="hidden">
            <a:xfrm>
              <a:off x="4810125" y="4500563"/>
              <a:ext cx="4510033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3" name="Freeform 10"/>
            <p:cNvSpPr>
              <a:spLocks/>
            </p:cNvSpPr>
            <p:nvPr/>
          </p:nvSpPr>
          <p:spPr bwMode="hidden">
            <a:xfrm>
              <a:off x="-3905251" y="4294188"/>
              <a:ext cx="1340151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Freeform 9"/>
          <p:cNvSpPr>
            <a:spLocks/>
          </p:cNvSpPr>
          <p:nvPr userDrawn="1"/>
        </p:nvSpPr>
        <p:spPr bwMode="auto">
          <a:xfrm flipV="1">
            <a:off x="-9526" y="5816600"/>
            <a:ext cx="991552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Freeform 10"/>
          <p:cNvSpPr>
            <a:spLocks/>
          </p:cNvSpPr>
          <p:nvPr userDrawn="1"/>
        </p:nvSpPr>
        <p:spPr bwMode="auto">
          <a:xfrm flipV="1">
            <a:off x="4232636" y="6251944"/>
            <a:ext cx="5673363" cy="61046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 userDrawn="1"/>
        </p:nvSpPr>
        <p:spPr bwMode="auto">
          <a:xfrm>
            <a:off x="2124073" y="5877078"/>
            <a:ext cx="564832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altLang="zh-CN" sz="1800" b="0" i="1" baseline="0" dirty="0">
                <a:ea typeface="SimSun" pitchFamily="2" charset="-122"/>
                <a:cs typeface="Arial" pitchFamily="34" charset="0"/>
              </a:rPr>
              <a:t>Department of Mechatronic Engineering, JKUAT</a:t>
            </a:r>
            <a:endParaRPr lang="en-US" altLang="zh-CN" sz="1800" b="0" i="1" dirty="0">
              <a:ea typeface="SimSun" pitchFamily="2" charset="-122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80963" y="1767093"/>
            <a:ext cx="9732962" cy="1800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800" b="1" dirty="0"/>
              <a:t>Design and Development of a Reliable Dual Recovery System with Extended Range Telemetry for the Nakuja N4 Rocket </a:t>
            </a:r>
            <a:r>
              <a:rPr lang="en-US" sz="2800" b="1" baseline="0" dirty="0">
                <a:cs typeface="Arial" pitchFamily="34" charset="0"/>
              </a:rPr>
              <a:t> </a:t>
            </a:r>
            <a:r>
              <a:rPr lang="en-US" sz="2800" b="1" dirty="0"/>
              <a:t>	</a:t>
            </a:r>
          </a:p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800" b="0" dirty="0"/>
              <a:t>FYP-22-4</a:t>
            </a:r>
            <a:endParaRPr lang="de-DE" sz="2800" b="0" dirty="0"/>
          </a:p>
        </p:txBody>
      </p:sp>
      <p:sp>
        <p:nvSpPr>
          <p:cNvPr id="16" name="Text Box 2"/>
          <p:cNvSpPr txBox="1">
            <a:spLocks noChangeArrowheads="1"/>
          </p:cNvSpPr>
          <p:nvPr userDrawn="1"/>
        </p:nvSpPr>
        <p:spPr bwMode="auto">
          <a:xfrm>
            <a:off x="92075" y="3720894"/>
            <a:ext cx="9732962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000" b="1" dirty="0">
                <a:cs typeface="Arial" pitchFamily="34" charset="0"/>
              </a:rPr>
              <a:t>Proposal presentation</a:t>
            </a:r>
            <a:endParaRPr lang="de-DE" sz="18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8634410" y="6622918"/>
            <a:ext cx="12771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FYP-22 Series</a:t>
            </a:r>
          </a:p>
        </p:txBody>
      </p:sp>
    </p:spTree>
    <p:extLst>
      <p:ext uri="{BB962C8B-B14F-4D97-AF65-F5344CB8AC3E}">
        <p14:creationId xmlns:p14="http://schemas.microsoft.com/office/powerpoint/2010/main" val="323132368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Line 111"/>
          <p:cNvSpPr>
            <a:spLocks noChangeAspect="1" noChangeShapeType="1"/>
          </p:cNvSpPr>
          <p:nvPr/>
        </p:nvSpPr>
        <p:spPr bwMode="auto">
          <a:xfrm>
            <a:off x="125413" y="6102828"/>
            <a:ext cx="9650412" cy="0"/>
          </a:xfrm>
          <a:prstGeom prst="line">
            <a:avLst/>
          </a:prstGeom>
          <a:ln w="25400">
            <a:gradFill>
              <a:gsLst>
                <a:gs pos="0">
                  <a:srgbClr val="99FF33"/>
                </a:gs>
                <a:gs pos="15000">
                  <a:schemeClr val="bg2">
                    <a:lumMod val="75000"/>
                  </a:schemeClr>
                </a:gs>
                <a:gs pos="66000">
                  <a:schemeClr val="tx2">
                    <a:lumMod val="60000"/>
                    <a:lumOff val="4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de-DE"/>
          </a:p>
        </p:txBody>
      </p:sp>
      <p:sp>
        <p:nvSpPr>
          <p:cNvPr id="5" name="Rectangle 115"/>
          <p:cNvSpPr>
            <a:spLocks noChangeArrowheads="1"/>
          </p:cNvSpPr>
          <p:nvPr/>
        </p:nvSpPr>
        <p:spPr bwMode="auto">
          <a:xfrm>
            <a:off x="9278938" y="6171150"/>
            <a:ext cx="49688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>
              <a:defRPr/>
            </a:pPr>
            <a:fld id="{0443F9DF-9A8B-44C7-A84E-890F1FC53F6B}" type="slidenum">
              <a:rPr lang="de-DE" altLang="de-DE" sz="1200" smtClean="0"/>
              <a:pPr algn="r">
                <a:defRPr/>
              </a:pPr>
              <a:t>‹#›</a:t>
            </a:fld>
            <a:r>
              <a:rPr lang="en-GB" altLang="de-DE" sz="1200" dirty="0"/>
              <a:t> </a:t>
            </a:r>
          </a:p>
        </p:txBody>
      </p:sp>
      <p:sp>
        <p:nvSpPr>
          <p:cNvPr id="7" name="Line 124"/>
          <p:cNvSpPr>
            <a:spLocks noChangeShapeType="1"/>
          </p:cNvSpPr>
          <p:nvPr userDrawn="1"/>
        </p:nvSpPr>
        <p:spPr bwMode="auto">
          <a:xfrm>
            <a:off x="125413" y="706166"/>
            <a:ext cx="9650412" cy="0"/>
          </a:xfrm>
          <a:prstGeom prst="line">
            <a:avLst/>
          </a:prstGeom>
          <a:ln w="38100">
            <a:gradFill>
              <a:gsLst>
                <a:gs pos="30000">
                  <a:srgbClr val="99FF33"/>
                </a:gs>
                <a:gs pos="0">
                  <a:schemeClr val="accent1">
                    <a:lumMod val="5000"/>
                    <a:lumOff val="95000"/>
                  </a:schemeClr>
                </a:gs>
                <a:gs pos="78000">
                  <a:schemeClr val="bg2">
                    <a:lumMod val="50000"/>
                  </a:schemeClr>
                </a:gs>
                <a:gs pos="54000">
                  <a:schemeClr val="accent1">
                    <a:lumMod val="45000"/>
                    <a:lumOff val="55000"/>
                  </a:schemeClr>
                </a:gs>
                <a:gs pos="99000">
                  <a:schemeClr val="tx2">
                    <a:lumMod val="40000"/>
                    <a:lumOff val="60000"/>
                  </a:schemeClr>
                </a:gs>
              </a:gsLst>
              <a:lin ang="5400000" scaled="1"/>
            </a:gradFill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lIns="0" tIns="0" rIns="0" bIns="0">
            <a:spAutoFit/>
          </a:bodyPr>
          <a:lstStyle/>
          <a:p>
            <a:endParaRPr lang="de-DE"/>
          </a:p>
        </p:txBody>
      </p:sp>
      <p:sp>
        <p:nvSpPr>
          <p:cNvPr id="10" name="Text Box 23"/>
          <p:cNvSpPr txBox="1">
            <a:spLocks noChangeArrowheads="1"/>
          </p:cNvSpPr>
          <p:nvPr userDrawn="1"/>
        </p:nvSpPr>
        <p:spPr bwMode="auto">
          <a:xfrm>
            <a:off x="255588" y="6102828"/>
            <a:ext cx="96504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1081088" marR="0" indent="-1081088" algn="l" defTabSz="1800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None/>
              <a:tabLst/>
              <a:defRPr/>
            </a:pPr>
            <a:r>
              <a:rPr lang="en-US" sz="1600" b="1" dirty="0">
                <a:cs typeface="+mn-cs"/>
              </a:rPr>
              <a:t>G.K Gatiba, I. Joseph:</a:t>
            </a:r>
            <a:r>
              <a:rPr lang="en-US" sz="1600" b="1" baseline="0" dirty="0">
                <a:cs typeface="+mn-cs"/>
              </a:rPr>
              <a:t> </a:t>
            </a:r>
            <a:r>
              <a:rPr lang="en-US" sz="1400" dirty="0"/>
              <a:t>Design and Development of a Reliable Dual Recovery System with Extended Range Telemetry for the Nakuja N4 Rocket </a:t>
            </a:r>
            <a:endParaRPr lang="en-US" sz="1400" dirty="0"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31763" y="208118"/>
            <a:ext cx="8172450" cy="9960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574493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Line 111"/>
          <p:cNvSpPr>
            <a:spLocks noChangeAspect="1" noChangeShapeType="1"/>
          </p:cNvSpPr>
          <p:nvPr/>
        </p:nvSpPr>
        <p:spPr bwMode="auto">
          <a:xfrm>
            <a:off x="125413" y="6102828"/>
            <a:ext cx="9650412" cy="0"/>
          </a:xfrm>
          <a:prstGeom prst="line">
            <a:avLst/>
          </a:prstGeom>
          <a:ln w="25400">
            <a:gradFill>
              <a:gsLst>
                <a:gs pos="0">
                  <a:srgbClr val="99FF33"/>
                </a:gs>
                <a:gs pos="15000">
                  <a:schemeClr val="bg2">
                    <a:lumMod val="75000"/>
                  </a:schemeClr>
                </a:gs>
                <a:gs pos="66000">
                  <a:schemeClr val="tx2">
                    <a:lumMod val="60000"/>
                    <a:lumOff val="4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de-DE"/>
          </a:p>
        </p:txBody>
      </p:sp>
      <p:sp>
        <p:nvSpPr>
          <p:cNvPr id="5" name="Rectangle 115"/>
          <p:cNvSpPr>
            <a:spLocks noChangeArrowheads="1"/>
          </p:cNvSpPr>
          <p:nvPr/>
        </p:nvSpPr>
        <p:spPr bwMode="auto">
          <a:xfrm>
            <a:off x="9278938" y="6171150"/>
            <a:ext cx="49688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>
              <a:defRPr/>
            </a:pPr>
            <a:fld id="{0443F9DF-9A8B-44C7-A84E-890F1FC53F6B}" type="slidenum">
              <a:rPr lang="de-DE" altLang="de-DE" sz="1200" smtClean="0"/>
              <a:pPr algn="r">
                <a:defRPr/>
              </a:pPr>
              <a:t>‹#›</a:t>
            </a:fld>
            <a:r>
              <a:rPr lang="en-GB" altLang="de-DE" sz="1200" dirty="0"/>
              <a:t> </a:t>
            </a:r>
          </a:p>
        </p:txBody>
      </p:sp>
      <p:sp>
        <p:nvSpPr>
          <p:cNvPr id="7" name="Line 124"/>
          <p:cNvSpPr>
            <a:spLocks noChangeShapeType="1"/>
          </p:cNvSpPr>
          <p:nvPr userDrawn="1"/>
        </p:nvSpPr>
        <p:spPr bwMode="auto">
          <a:xfrm>
            <a:off x="125413" y="706166"/>
            <a:ext cx="9650412" cy="0"/>
          </a:xfrm>
          <a:prstGeom prst="line">
            <a:avLst/>
          </a:prstGeom>
          <a:ln w="38100">
            <a:gradFill>
              <a:gsLst>
                <a:gs pos="30000">
                  <a:srgbClr val="99FF33"/>
                </a:gs>
                <a:gs pos="0">
                  <a:schemeClr val="accent1">
                    <a:lumMod val="5000"/>
                    <a:lumOff val="95000"/>
                  </a:schemeClr>
                </a:gs>
                <a:gs pos="78000">
                  <a:schemeClr val="bg2">
                    <a:lumMod val="50000"/>
                  </a:schemeClr>
                </a:gs>
                <a:gs pos="54000">
                  <a:schemeClr val="accent1">
                    <a:lumMod val="45000"/>
                    <a:lumOff val="55000"/>
                  </a:schemeClr>
                </a:gs>
                <a:gs pos="99000">
                  <a:schemeClr val="tx2">
                    <a:lumMod val="40000"/>
                    <a:lumOff val="60000"/>
                  </a:schemeClr>
                </a:gs>
              </a:gsLst>
              <a:lin ang="5400000" scaled="1"/>
            </a:gradFill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lIns="0" tIns="0" rIns="0" bIns="0">
            <a:spAutoFit/>
          </a:bodyPr>
          <a:lstStyle/>
          <a:p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31763" y="208118"/>
            <a:ext cx="8172450" cy="9960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Introduction</a:t>
            </a:r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081F32AD-8F06-1D69-1D8C-AD7EBA375D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5588" y="6102828"/>
            <a:ext cx="96504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1081088" marR="0" indent="-1081088" algn="l" defTabSz="1800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None/>
              <a:tabLst/>
              <a:defRPr/>
            </a:pPr>
            <a:r>
              <a:rPr lang="en-US" sz="1600" b="1" dirty="0">
                <a:cs typeface="+mn-cs"/>
              </a:rPr>
              <a:t>Glenn Kanyi, Ian Joseph:</a:t>
            </a:r>
            <a:r>
              <a:rPr lang="en-US" sz="1600" b="1" baseline="0" dirty="0">
                <a:cs typeface="+mn-cs"/>
              </a:rPr>
              <a:t> </a:t>
            </a:r>
            <a:r>
              <a:rPr lang="en-US" sz="1400" dirty="0"/>
              <a:t>Design and Development of a Reliable Dual Recovery System with Extended Range Telemetry for the Nakuja N4 Rocket </a:t>
            </a:r>
            <a:endParaRPr lang="en-US" sz="14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22090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6378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9" r:id="rId3"/>
    <p:sldLayoutId id="2147483908" r:id="rId4"/>
  </p:sldLayoutIdLst>
  <p:transition>
    <p:fade/>
  </p:transition>
  <p:hf sldNum="0" hdr="0" ftr="0" dt="0"/>
  <p:txStyles>
    <p:titleStyle>
      <a:lvl1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+mj-ea"/>
          <a:cs typeface="+mj-cs"/>
        </a:defRPr>
      </a:lvl1pPr>
      <a:lvl2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285750" indent="-2857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Verdana" pitchFamily="34" charset="0"/>
        <a:defRPr sz="1600">
          <a:solidFill>
            <a:schemeClr val="tx1"/>
          </a:solidFill>
          <a:latin typeface="Arial" charset="0"/>
          <a:ea typeface="+mn-ea"/>
          <a:cs typeface="+mn-cs"/>
        </a:defRPr>
      </a:lvl1pPr>
      <a:lvl2pPr marL="857250" indent="-2857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2pPr>
      <a:lvl3pPr marL="1809750" indent="-952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3pPr>
      <a:lvl4pPr marL="2000250" indent="-6286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4pPr>
      <a:lvl5pPr marL="24717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5pPr>
      <a:lvl6pPr marL="29289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6pPr>
      <a:lvl7pPr marL="33861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7pPr>
      <a:lvl8pPr marL="38433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8pPr>
      <a:lvl9pPr marL="43005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0170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9533" y="238350"/>
            <a:ext cx="43543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de-DE" altLang="zh-CN" sz="2800" b="1" dirty="0">
                <a:ea typeface="SimSun" pitchFamily="2" charset="-122"/>
              </a:rPr>
              <a:t>Presentation Outline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2BE6036-355D-398C-CA2E-7C3E3B20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05" y="763751"/>
            <a:ext cx="6771993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Background of Study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Key Literature Review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Proposed Methodology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(Mechanical &amp; Electrical)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Expected Outcomes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Project Time Plan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Budget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B9989-5BE1-A28B-7C85-4A240D988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898" y="1101857"/>
            <a:ext cx="5595347" cy="352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836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8900" y="242484"/>
            <a:ext cx="1810409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sz="1800" b="1" dirty="0"/>
              <a:t>Background</a:t>
            </a:r>
            <a:r>
              <a:rPr lang="de-DE" altLang="zh-CN" sz="1800" b="1" dirty="0">
                <a:ea typeface="SimSun" pitchFamily="2" charset="-122"/>
              </a:rPr>
              <a:t> </a:t>
            </a:r>
          </a:p>
        </p:txBody>
      </p:sp>
      <p:sp>
        <p:nvSpPr>
          <p:cNvPr id="29" name="Rechteck 28"/>
          <p:cNvSpPr/>
          <p:nvPr/>
        </p:nvSpPr>
        <p:spPr>
          <a:xfrm>
            <a:off x="39656" y="5571331"/>
            <a:ext cx="330829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100" dirty="0">
                <a:solidFill>
                  <a:schemeClr val="bg1"/>
                </a:solidFill>
              </a:rPr>
              <a:t>[http://www.effectofglobalwarming.com/]</a:t>
            </a:r>
          </a:p>
        </p:txBody>
      </p:sp>
      <p:sp>
        <p:nvSpPr>
          <p:cNvPr id="32" name="Rechteck 31"/>
          <p:cNvSpPr/>
          <p:nvPr/>
        </p:nvSpPr>
        <p:spPr>
          <a:xfrm>
            <a:off x="56456" y="2918068"/>
            <a:ext cx="18914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[http://www.iea.org/]</a:t>
            </a:r>
          </a:p>
        </p:txBody>
      </p:sp>
      <p:sp>
        <p:nvSpPr>
          <p:cNvPr id="37" name="Rechteck 36"/>
          <p:cNvSpPr/>
          <p:nvPr/>
        </p:nvSpPr>
        <p:spPr>
          <a:xfrm>
            <a:off x="463819" y="3875368"/>
            <a:ext cx="89783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0066CC"/>
              </a:buClr>
              <a:buSzPct val="120000"/>
              <a:buFont typeface="Wingdings" panose="05000000000000000000" pitchFamily="2" charset="2"/>
              <a:buChar char="§"/>
            </a:pPr>
            <a:endParaRPr lang="en-US" altLang="de-DE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4681A2-C339-BEFC-C209-47125EFD97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9392" y="886560"/>
            <a:ext cx="586668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Rocket Recovery: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most critical subsystem for preserving flight data and hardware.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 of Systems: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Deployment: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Parachute at apogee. Risk: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drift radius.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 Deployment: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Drogue at apogee (stability), Main at low altitude (soft landing). Standard for high-power rocketry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Nakuja Context: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N3.5 mission used a basic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single-deployment piston based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Current Uses Dual 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faced: Reliability of ejection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telemetry signal loss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BB183AA-E1C4-CB1F-73E7-ED0743A3C0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0F933-8899-3360-E0A8-2496B709B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41" y="1177366"/>
            <a:ext cx="3493867" cy="17006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D09D93-635F-CFE4-525C-2303B8F45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618" y="3244322"/>
            <a:ext cx="3614991" cy="2436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867E1-562E-5FCA-1E44-01F16E2B3996}"/>
              </a:ext>
            </a:extLst>
          </p:cNvPr>
          <p:cNvSpPr txBox="1"/>
          <p:nvPr/>
        </p:nvSpPr>
        <p:spPr>
          <a:xfrm>
            <a:off x="6107197" y="2902497"/>
            <a:ext cx="349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of N4 Recovery </a:t>
            </a:r>
            <a:r>
              <a:rPr lang="en-US" sz="1400" dirty="0" err="1"/>
              <a:t>tsaken</a:t>
            </a:r>
            <a:r>
              <a:rPr lang="en-US" sz="1400" dirty="0"/>
              <a:t> by student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0BC9-9BCF-1559-09AE-050B6408DB3F}"/>
              </a:ext>
            </a:extLst>
          </p:cNvPr>
          <p:cNvSpPr txBox="1"/>
          <p:nvPr/>
        </p:nvSpPr>
        <p:spPr>
          <a:xfrm>
            <a:off x="6012742" y="5607065"/>
            <a:ext cx="3493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Dual recovery system from </a:t>
            </a:r>
          </a:p>
        </p:txBody>
      </p:sp>
    </p:spTree>
    <p:extLst>
      <p:ext uri="{BB962C8B-B14F-4D97-AF65-F5344CB8AC3E}">
        <p14:creationId xmlns:p14="http://schemas.microsoft.com/office/powerpoint/2010/main" val="19200867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693664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7836CE-BFA7-A201-A748-B796CD6B2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219519"/>
            <a:ext cx="4019740" cy="2359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3E78F7-3B48-8100-A2B2-B2B44258A1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660" b="27657"/>
          <a:stretch>
            <a:fillRect/>
          </a:stretch>
        </p:blipFill>
        <p:spPr>
          <a:xfrm>
            <a:off x="557355" y="3427585"/>
            <a:ext cx="3086100" cy="2172833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C188DEF-C031-3FA1-669A-D7C1C7BB68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9652" y="911194"/>
            <a:ext cx="88520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N4 mission faces three critical reliability challenges. First,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telemetry system's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protocol suffers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range limitations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leading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loss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risk of vehicle 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Second,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"DC dump" ignition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nichrome wire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uncontrolled heat 1000 degrees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makes the deployment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use 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Finally,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real-time pre-flight feedback on battery voltage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igniter continuity leaves ground operators blind to potential power failures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increasing the risk of aborts or deployment malfunctions.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179EDC-DBCE-62A0-69DF-C2D1E32834F3}"/>
              </a:ext>
            </a:extLst>
          </p:cNvPr>
          <p:cNvSpPr txBox="1"/>
          <p:nvPr/>
        </p:nvSpPr>
        <p:spPr>
          <a:xfrm>
            <a:off x="484995" y="5600418"/>
            <a:ext cx="3493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of N4 charge holder taken by student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F511B-5339-A4BC-5D16-B1E65634C282}"/>
              </a:ext>
            </a:extLst>
          </p:cNvPr>
          <p:cNvSpPr txBox="1"/>
          <p:nvPr/>
        </p:nvSpPr>
        <p:spPr>
          <a:xfrm>
            <a:off x="5324192" y="5607982"/>
            <a:ext cx="3493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RSSI data from range test</a:t>
            </a:r>
          </a:p>
        </p:txBody>
      </p:sp>
    </p:spTree>
    <p:extLst>
      <p:ext uri="{BB962C8B-B14F-4D97-AF65-F5344CB8AC3E}">
        <p14:creationId xmlns:p14="http://schemas.microsoft.com/office/powerpoint/2010/main" val="320521392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55B0-069E-1CF2-2CB6-FC07A100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AA11474F-A0BD-A500-A302-822799697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547516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695DBE-28F6-1AB3-2791-3EF14DFC0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59" y="967382"/>
            <a:ext cx="8193387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Main Objective:</a:t>
            </a:r>
            <a:r>
              <a:rPr lang="en-US" sz="1800" dirty="0"/>
              <a:t> To design and fabricate a </a:t>
            </a:r>
            <a:r>
              <a:rPr lang="en-US" sz="1800" b="1" dirty="0"/>
              <a:t>reliable dual recovery system</a:t>
            </a:r>
            <a:r>
              <a:rPr lang="en-US" sz="1800" dirty="0"/>
              <a:t> for the N4 rocket with extended telemetry range.</a:t>
            </a:r>
          </a:p>
          <a:p>
            <a:endParaRPr lang="en-US" sz="1800" dirty="0"/>
          </a:p>
          <a:p>
            <a:r>
              <a:rPr lang="en-US" sz="1800" b="1" dirty="0"/>
              <a:t>Specific Objectives: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To implement the </a:t>
            </a:r>
            <a:r>
              <a:rPr lang="en-US" sz="1800" b="1" dirty="0"/>
              <a:t>Digi </a:t>
            </a:r>
            <a:r>
              <a:rPr lang="en-US" sz="1800" b="1" dirty="0" err="1"/>
              <a:t>XBee</a:t>
            </a:r>
            <a:r>
              <a:rPr lang="en-US" sz="1800" b="1" dirty="0"/>
              <a:t>-PRO 900HP</a:t>
            </a:r>
            <a:r>
              <a:rPr lang="en-US" sz="1800" dirty="0"/>
              <a:t> telemetry system for robust long-range data transmission (&gt;5km).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To design a </a:t>
            </a:r>
            <a:r>
              <a:rPr lang="en-US" sz="1800" b="1" dirty="0"/>
              <a:t>PWM-controlled ignition system</a:t>
            </a:r>
            <a:r>
              <a:rPr lang="en-US" sz="1800" dirty="0"/>
              <a:t> to regulate Nichrome wire temperature and prevent burnout and one shot use.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To develop a </a:t>
            </a:r>
            <a:r>
              <a:rPr lang="en-US" sz="1800" b="1" dirty="0"/>
              <a:t>feedback monitoring system</a:t>
            </a:r>
            <a:r>
              <a:rPr lang="en-US" sz="1800" dirty="0"/>
              <a:t> that transmits real-time battery percentage and deployment pin continuity to the ground station.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To implement an </a:t>
            </a:r>
            <a:r>
              <a:rPr lang="en-US" sz="1800" b="1" dirty="0"/>
              <a:t>Explosion cup </a:t>
            </a:r>
            <a:r>
              <a:rPr lang="en-US" sz="1800" dirty="0"/>
              <a:t>reliably so as to have consistent and reliable deployment.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1950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7424-1E69-9BB2-0DD2-324607F8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0FC532EB-ED65-8B77-FB9D-06EC755AB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398408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Literature Review: Telemetry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A5144F-EB67-91A7-2653-4A61937A4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29426"/>
              </p:ext>
            </p:extLst>
          </p:nvPr>
        </p:nvGraphicFramePr>
        <p:xfrm>
          <a:off x="416706" y="872368"/>
          <a:ext cx="9072587" cy="498525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5072">
                  <a:extLst>
                    <a:ext uri="{9D8B030D-6E8A-4147-A177-3AD203B41FA5}">
                      <a16:colId xmlns:a16="http://schemas.microsoft.com/office/drawing/2014/main" val="1896589501"/>
                    </a:ext>
                  </a:extLst>
                </a:gridCol>
                <a:gridCol w="1383503">
                  <a:extLst>
                    <a:ext uri="{9D8B030D-6E8A-4147-A177-3AD203B41FA5}">
                      <a16:colId xmlns:a16="http://schemas.microsoft.com/office/drawing/2014/main" val="1689965543"/>
                    </a:ext>
                  </a:extLst>
                </a:gridCol>
                <a:gridCol w="1383503">
                  <a:extLst>
                    <a:ext uri="{9D8B030D-6E8A-4147-A177-3AD203B41FA5}">
                      <a16:colId xmlns:a16="http://schemas.microsoft.com/office/drawing/2014/main" val="2079989200"/>
                    </a:ext>
                  </a:extLst>
                </a:gridCol>
                <a:gridCol w="1383503">
                  <a:extLst>
                    <a:ext uri="{9D8B030D-6E8A-4147-A177-3AD203B41FA5}">
                      <a16:colId xmlns:a16="http://schemas.microsoft.com/office/drawing/2014/main" val="2600773414"/>
                    </a:ext>
                  </a:extLst>
                </a:gridCol>
                <a:gridCol w="1383503">
                  <a:extLst>
                    <a:ext uri="{9D8B030D-6E8A-4147-A177-3AD203B41FA5}">
                      <a16:colId xmlns:a16="http://schemas.microsoft.com/office/drawing/2014/main" val="3251101594"/>
                    </a:ext>
                  </a:extLst>
                </a:gridCol>
                <a:gridCol w="1383503">
                  <a:extLst>
                    <a:ext uri="{9D8B030D-6E8A-4147-A177-3AD203B41FA5}">
                      <a16:colId xmlns:a16="http://schemas.microsoft.com/office/drawing/2014/main" val="3878053577"/>
                    </a:ext>
                  </a:extLst>
                </a:gridCol>
              </a:tblGrid>
              <a:tr h="4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Technology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Typical Use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Range (LOS)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Data Capability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Key Strength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Key Limitation</a:t>
                      </a:r>
                    </a:p>
                  </a:txBody>
                  <a:tcPr marL="54392" marR="54392" marT="27196" marB="27196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21313"/>
                  </a:ext>
                </a:extLst>
              </a:tr>
              <a:tr h="794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433 MHz RF Beacons</a:t>
                      </a:r>
                      <a:endParaRPr lang="en-US" sz="11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DIY recovery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5–10 km*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low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Simple, long theoretical range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 reliability, no ACKs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60408868"/>
                  </a:ext>
                </a:extLst>
              </a:tr>
              <a:tr h="794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Beacon Telemetry (This Work)</a:t>
                      </a:r>
                      <a:endParaRPr lang="en-US" sz="1100" dirty="0"/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N4 Recovery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4 km (75 B)</a:t>
                      </a:r>
                      <a:r>
                        <a:rPr lang="en-US" sz="1100"/>
                        <a:t> </a:t>
                      </a:r>
                      <a:r>
                        <a:rPr lang="en-US" sz="1100" b="1"/>
                        <a:t>0.8 km (207 B)</a:t>
                      </a:r>
                      <a:endParaRPr lang="en-US" sz="1100"/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Low–Medium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Simple, no infrastructure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Range drops with packet size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242367"/>
                  </a:ext>
                </a:extLst>
              </a:tr>
              <a:tr h="626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LoRa (SX1278)</a:t>
                      </a:r>
                      <a:endParaRPr lang="en-US" sz="1100"/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Student rockets, CanSat</a:t>
                      </a:r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2–15 km</a:t>
                      </a:r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Low</a:t>
                      </a:r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 sensitivity, low power</a:t>
                      </a:r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Low bandwidth, high latency</a:t>
                      </a:r>
                    </a:p>
                  </a:txBody>
                  <a:tcPr marL="54392" marR="54392" marT="27196" marB="27196" anchor="ctr">
                    <a:solidFill>
                      <a:srgbClr val="D5EF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2186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XBee 2.4 GHz</a:t>
                      </a:r>
                      <a:endParaRPr lang="en-US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UAVs, small rockets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&lt;2 km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Medium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Easy integration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Short range, interference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218625678"/>
                  </a:ext>
                </a:extLst>
              </a:tr>
              <a:tr h="626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 err="1"/>
                        <a:t>XBee</a:t>
                      </a:r>
                      <a:r>
                        <a:rPr lang="en-US" sz="1100" b="1" dirty="0"/>
                        <a:t>-PRO 900HP</a:t>
                      </a:r>
                      <a:endParaRPr lang="en-US" sz="1100" dirty="0"/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Advanced student rockets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5–15 km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Medium–High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 power, reliable protocol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Higher power usage</a:t>
                      </a:r>
                    </a:p>
                  </a:txBody>
                  <a:tcPr marL="54392" marR="54392" marT="27196" marB="27196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44838"/>
                  </a:ext>
                </a:extLst>
              </a:tr>
              <a:tr h="43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ESP-NOW</a:t>
                      </a:r>
                      <a:endParaRPr lang="en-US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Command &amp; control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&lt;1 km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Medium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low latency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Not long-range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784402918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Cellular (LTE / NB-IoT)</a:t>
                      </a:r>
                      <a:endParaRPr lang="en-US" sz="110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High-budget projects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Global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Unlimited range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dependent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3986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595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E0A2-DF37-73FD-B041-137DF2D1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13CFF78C-EC18-FAED-7C03-884924187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4314299" cy="78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</a:pPr>
            <a:r>
              <a:rPr lang="en-US" altLang="zh-CN" sz="1800" b="1" dirty="0">
                <a:ea typeface="SimSun" pitchFamily="2" charset="-122"/>
              </a:rPr>
              <a:t>Literature Review: Deployment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endParaRPr lang="en-US" altLang="zh-CN" sz="1800" b="1" dirty="0">
              <a:ea typeface="SimSun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88F3395-C2C7-9006-2617-E8E66B184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40" y="709017"/>
            <a:ext cx="5508712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Igniter Types: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Commercial E-Matches: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Reliable and fast, but expensive and single-use.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Nichrome Wire (DIY):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Reusable and cheap. Used by Nakuja.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Nakuja N4 Analysis: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Direct DC Drive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(14.8V dumped into wire)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Failure Mode: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Wire reached 1000+ degrees instantly. Result: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"Popped" wires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Gap: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No Reusability of the nichrome deployment system making it difficult for tests and adds risks in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No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Battery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Continuity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ground control</a:t>
            </a:r>
            <a:r>
              <a:rPr lang="en-US" altLang="en-US" sz="1200" baseline="30000" dirty="0"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78AE48-21BB-629B-25A7-BD0B7898C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952" y="3727650"/>
            <a:ext cx="3733800" cy="2095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679AAF-A103-0D65-E271-64BF88A8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38" r="17211" b="6410"/>
          <a:stretch>
            <a:fillRect/>
          </a:stretch>
        </p:blipFill>
        <p:spPr>
          <a:xfrm>
            <a:off x="6398161" y="631855"/>
            <a:ext cx="2435382" cy="2610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ABF58A-2C4A-3205-50B6-5B1D00B6ECA0}"/>
              </a:ext>
            </a:extLst>
          </p:cNvPr>
          <p:cNvSpPr txBox="1"/>
          <p:nvPr/>
        </p:nvSpPr>
        <p:spPr>
          <a:xfrm>
            <a:off x="5988885" y="3144084"/>
            <a:ext cx="3493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Avionics bay from FYP-20-1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36C97-DD2B-40A9-CF89-1EEDED8A0116}"/>
              </a:ext>
            </a:extLst>
          </p:cNvPr>
          <p:cNvSpPr txBox="1"/>
          <p:nvPr/>
        </p:nvSpPr>
        <p:spPr>
          <a:xfrm>
            <a:off x="5661451" y="5791162"/>
            <a:ext cx="3493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Commercial E-Match igniter Test </a:t>
            </a:r>
          </a:p>
        </p:txBody>
      </p:sp>
    </p:spTree>
    <p:extLst>
      <p:ext uri="{BB962C8B-B14F-4D97-AF65-F5344CB8AC3E}">
        <p14:creationId xmlns:p14="http://schemas.microsoft.com/office/powerpoint/2010/main" val="7119998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101E-181C-D7CA-AA19-EE11B989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4EFA5E3A-BF01-96B9-D5F5-213092695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6515223" cy="787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</a:pPr>
            <a:r>
              <a:rPr lang="en-US" altLang="zh-CN" sz="1800" b="1" dirty="0">
                <a:ea typeface="SimSun" pitchFamily="2" charset="-122"/>
              </a:rPr>
              <a:t>Literature Review: The Crimson Powder Problem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endParaRPr lang="en-US" altLang="zh-CN" sz="1800" b="1" dirty="0">
              <a:ea typeface="SimSun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8EEF8-EE3C-310C-708A-484FD60D8C8C}"/>
              </a:ext>
            </a:extLst>
          </p:cNvPr>
          <p:cNvSpPr txBox="1"/>
          <p:nvPr/>
        </p:nvSpPr>
        <p:spPr>
          <a:xfrm>
            <a:off x="6412133" y="4396928"/>
            <a:ext cx="3493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First N4 </a:t>
            </a:r>
            <a:r>
              <a:rPr lang="en-US" sz="1400" dirty="0" err="1"/>
              <a:t>Poptest</a:t>
            </a:r>
            <a:r>
              <a:rPr lang="en-US" sz="1400" dirty="0"/>
              <a:t>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FD2FD-408D-EFFD-A40C-7FE439E6D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35" t="16607" r="7578" b="32389"/>
          <a:stretch>
            <a:fillRect/>
          </a:stretch>
        </p:blipFill>
        <p:spPr>
          <a:xfrm>
            <a:off x="6259394" y="851026"/>
            <a:ext cx="3406366" cy="346747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EAC7023-A87A-C543-24C2-14099191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06" y="1432033"/>
            <a:ext cx="6259394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Structural &amp; Power Failures: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Battery Holders: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Standard spring-loaded holders suffer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mechanical resonance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breakage under high shock loads, leading to momentary power loss (MCU Reset).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FC Mounting: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Rigid mounting transmits high-frequency vibrations directly to the PCB, causing solder fatigue and sensor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Identified Research Gaps: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Quantifiable Charge Energy: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Lack of empirical data correlating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Charge Mass (g)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Ejection Force (N)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the N4 airframe volume.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Ruggedized Avionics 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Absence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shock-isolated Flight Computer (FC) Holder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designed specifically to withstand the high-impact forces of pyrotechnic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E78FF-FD66-2842-E00F-BF8299F69B7B}"/>
              </a:ext>
            </a:extLst>
          </p:cNvPr>
          <p:cNvSpPr txBox="1"/>
          <p:nvPr/>
        </p:nvSpPr>
        <p:spPr>
          <a:xfrm>
            <a:off x="-246054" y="851026"/>
            <a:ext cx="6366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 pop tests it was observed that there is unpredictable pressurization of the explosion chamber leading to unforeseen issues.</a:t>
            </a:r>
          </a:p>
        </p:txBody>
      </p:sp>
    </p:spTree>
    <p:extLst>
      <p:ext uri="{BB962C8B-B14F-4D97-AF65-F5344CB8AC3E}">
        <p14:creationId xmlns:p14="http://schemas.microsoft.com/office/powerpoint/2010/main" val="265645029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185369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9F2E58-BF4C-EC93-5B5C-2B7B36F50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9" y="1581861"/>
            <a:ext cx="7939888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Deployment Mechanism (The "Explosion Cap"):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Implementation of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Sealed Explosion Cap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house the Crimson Powder charge.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Contains the combustion flame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prevent parachute burning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while directing the pressure wave to shear pins for reliable ejection.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Avionics Bay Structure: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Design of a custom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3D-printed Sled/Holder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secure the Flight Computer, LiPo Batteries,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Feature: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Engineered 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mechanical isolation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vibration dampening against high-G launch forces 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BB7D6-4D3A-98EA-A5A0-A8C9DE34FC4E}"/>
              </a:ext>
            </a:extLst>
          </p:cNvPr>
          <p:cNvSpPr txBox="1"/>
          <p:nvPr/>
        </p:nvSpPr>
        <p:spPr>
          <a:xfrm>
            <a:off x="296501" y="1181751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Mechanical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356428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38B8-D985-CC81-3524-18F39FA8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C3EC88D7-10A2-526B-412F-685F813C0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85369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885D5-E3C1-85BA-09C3-1E27D4E23FCF}"/>
              </a:ext>
            </a:extLst>
          </p:cNvPr>
          <p:cNvSpPr txBox="1"/>
          <p:nvPr/>
        </p:nvSpPr>
        <p:spPr>
          <a:xfrm>
            <a:off x="215020" y="924880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Electrical</a:t>
            </a:r>
            <a:endParaRPr lang="en-US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12965C-57D0-FF94-BF96-E6EB34ECCD7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3839" y="1328425"/>
            <a:ext cx="9198321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Hardware Architecture: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MCU: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ESP32 (Selected for high processing speed).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Telemetry: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Digi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XBee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-PRO 900HP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robust long-range communication (&gt;5km).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Fabrication: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Custom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PCB Design and Fabrication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miniaturize the circuit and eliminate loose wire failures.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Smart Ignition Control (PWM):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Driver: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Low-side MOSFET controlled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Pulse Width Modulation (PWM)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precise heating profile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Power &amp; Feedback: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BMS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Active battery management for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Feedback Loop: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Real-time monitoring of Battery Voltage and Igniter Continuity transmitted to Ground Station.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5691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60745" y="842893"/>
            <a:ext cx="9100537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1600" b="1" dirty="0"/>
              <a:t>Operational Reliability:</a:t>
            </a:r>
            <a:endParaRPr lang="en-US" sz="1600" dirty="0"/>
          </a:p>
          <a:p>
            <a:pPr lvl="1"/>
            <a:r>
              <a:rPr lang="en-US" sz="1600" b="1" dirty="0"/>
              <a:t>Telemetry:</a:t>
            </a:r>
            <a:r>
              <a:rPr lang="en-US" sz="1600" dirty="0"/>
              <a:t> Continuous data stream up to </a:t>
            </a:r>
            <a:r>
              <a:rPr lang="en-US" sz="1600" b="1" dirty="0"/>
              <a:t>5 km</a:t>
            </a:r>
            <a:r>
              <a:rPr lang="en-US" sz="1600" dirty="0"/>
              <a:t> altitude with </a:t>
            </a:r>
            <a:r>
              <a:rPr lang="en-US" sz="1600" b="1" dirty="0"/>
              <a:t>&lt;5% packet loss</a:t>
            </a:r>
            <a:r>
              <a:rPr lang="en-US" sz="1600" dirty="0"/>
              <a:t> using </a:t>
            </a:r>
            <a:r>
              <a:rPr lang="en-US" sz="1600" dirty="0" err="1"/>
              <a:t>XBee</a:t>
            </a:r>
            <a:r>
              <a:rPr lang="en-US" sz="1600" dirty="0"/>
              <a:t>-PRO 900HP.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Safe Recovery:</a:t>
            </a:r>
            <a:r>
              <a:rPr lang="en-US" sz="1600" dirty="0"/>
              <a:t> Successful parachute deployment with </a:t>
            </a:r>
            <a:r>
              <a:rPr lang="en-US" sz="1600" b="1" dirty="0"/>
              <a:t>zero thermal damage</a:t>
            </a:r>
            <a:r>
              <a:rPr lang="en-US" sz="1600" dirty="0"/>
              <a:t> to the canopy, achieved via the </a:t>
            </a:r>
            <a:r>
              <a:rPr lang="en-US" sz="1600" b="1" dirty="0"/>
              <a:t>Sealed Explosion Cap</a:t>
            </a:r>
            <a:r>
              <a:rPr lang="en-US" sz="1600" dirty="0"/>
              <a:t> and </a:t>
            </a:r>
            <a:r>
              <a:rPr lang="en-US" sz="1600" b="1" dirty="0"/>
              <a:t>PWM Ignition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System Integrity:</a:t>
            </a:r>
            <a:endParaRPr lang="en-US" sz="1600" dirty="0"/>
          </a:p>
          <a:p>
            <a:pPr lvl="1"/>
            <a:r>
              <a:rPr lang="en-US" sz="1600" b="1" dirty="0"/>
              <a:t>Electronics:</a:t>
            </a:r>
            <a:r>
              <a:rPr lang="en-US" sz="1600" dirty="0"/>
              <a:t> A custom-fabricated </a:t>
            </a:r>
            <a:r>
              <a:rPr lang="en-US" sz="1600" b="1" dirty="0"/>
              <a:t>PCB</a:t>
            </a:r>
            <a:r>
              <a:rPr lang="en-US" sz="1600" dirty="0"/>
              <a:t> that eliminates wire fatigue and ensures reliable connections under vibration.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Mechanical:</a:t>
            </a:r>
            <a:r>
              <a:rPr lang="en-US" sz="1600" dirty="0"/>
              <a:t> A vibration-proof, 3D-printed avionics holder that maintains Center of Gravity (CG) stability.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User Feedback (Ground Station):</a:t>
            </a:r>
            <a:endParaRPr lang="en-US" sz="1600" dirty="0"/>
          </a:p>
          <a:p>
            <a:pPr lvl="1"/>
            <a:r>
              <a:rPr lang="en-US" sz="1600" dirty="0"/>
              <a:t>Real-time monitoring of </a:t>
            </a:r>
            <a:r>
              <a:rPr lang="en-US" sz="1600" b="1" dirty="0"/>
              <a:t>Battery Voltage</a:t>
            </a:r>
            <a:r>
              <a:rPr lang="en-US" sz="1600" dirty="0"/>
              <a:t>, </a:t>
            </a:r>
            <a:r>
              <a:rPr lang="en-US" sz="1600" b="1" dirty="0"/>
              <a:t>Igniter Continuity</a:t>
            </a:r>
            <a:r>
              <a:rPr lang="en-US" sz="1600" dirty="0"/>
              <a:t>, and </a:t>
            </a:r>
            <a:r>
              <a:rPr lang="en-US" sz="1600" b="1" dirty="0"/>
              <a:t>GPS Position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Automatic </a:t>
            </a:r>
            <a:r>
              <a:rPr lang="en-US" sz="1600" b="1" dirty="0"/>
              <a:t>"Launch Inhibit"</a:t>
            </a:r>
            <a:r>
              <a:rPr lang="en-US" sz="1600" dirty="0"/>
              <a:t> safety protocol if main battery voltage drops below 14.0V.</a:t>
            </a:r>
            <a:endParaRPr lang="en-US" sz="1600" dirty="0">
              <a:effectLst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74015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415570316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2517" y="761412"/>
            <a:ext cx="59264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en-US" altLang="de-DE" sz="1600" b="1" dirty="0"/>
              <a:t>Budget</a:t>
            </a:r>
            <a:r>
              <a:rPr lang="en-US" altLang="de-DE" sz="1600" dirty="0"/>
              <a:t>	</a:t>
            </a:r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74015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Expected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5BE087-0A5C-5004-32AF-88D3EC18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7" y="1087682"/>
            <a:ext cx="6884704" cy="4682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5D090-6A1A-1459-FCD4-9EE771D5C279}"/>
              </a:ext>
            </a:extLst>
          </p:cNvPr>
          <p:cNvSpPr txBox="1"/>
          <p:nvPr/>
        </p:nvSpPr>
        <p:spPr>
          <a:xfrm>
            <a:off x="6943550" y="1087682"/>
            <a:ext cx="2909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Items with * Are already Purchased </a:t>
            </a:r>
          </a:p>
        </p:txBody>
      </p:sp>
    </p:spTree>
    <p:extLst>
      <p:ext uri="{BB962C8B-B14F-4D97-AF65-F5344CB8AC3E}">
        <p14:creationId xmlns:p14="http://schemas.microsoft.com/office/powerpoint/2010/main" val="240752972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2517" y="761412"/>
            <a:ext cx="5926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en-US" altLang="de-DE" sz="1600" b="1" dirty="0"/>
              <a:t>Time plan</a:t>
            </a:r>
          </a:p>
          <a:p>
            <a:pPr eaLnBrk="1" hangingPunct="1">
              <a:spcBef>
                <a:spcPts val="600"/>
              </a:spcBef>
              <a:buSzPct val="75000"/>
            </a:pPr>
            <a:endParaRPr lang="en-US" altLang="de-DE" sz="1600" b="1" dirty="0"/>
          </a:p>
          <a:p>
            <a:pPr eaLnBrk="1" hangingPunct="1">
              <a:spcBef>
                <a:spcPts val="600"/>
              </a:spcBef>
              <a:buSzPct val="75000"/>
            </a:pPr>
            <a:endParaRPr lang="en-US" altLang="de-DE" sz="1600" b="1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74015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Expected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DBF82-4E19-F171-ABB0-FC92438F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3" t="1521" r="4267"/>
          <a:stretch>
            <a:fillRect/>
          </a:stretch>
        </p:blipFill>
        <p:spPr>
          <a:xfrm>
            <a:off x="1511928" y="1027264"/>
            <a:ext cx="7016435" cy="50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0499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54747" y="2840540"/>
            <a:ext cx="72155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de-DE" sz="3200" b="1" dirty="0"/>
              <a:t>Thank you for your attention.</a:t>
            </a:r>
          </a:p>
        </p:txBody>
      </p:sp>
      <p:sp>
        <p:nvSpPr>
          <p:cNvPr id="2" name="AutoShape 2" descr="layout image">
            <a:extLst>
              <a:ext uri="{FF2B5EF4-FFF2-40B4-BE49-F238E27FC236}">
                <a16:creationId xmlns:a16="http://schemas.microsoft.com/office/drawing/2014/main" id="{2902CC53-D365-D18D-32CC-213C85AA5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960422" cy="96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456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8_Vortrag 1302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8_Vortrag 1302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 typeface="Verdana" pitchFamily="34" charset="0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 typeface="Verdana" pitchFamily="34" charset="0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Vortrag 13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A1914"/>
        </a:accent1>
        <a:accent2>
          <a:srgbClr val="002F5C"/>
        </a:accent2>
        <a:accent3>
          <a:srgbClr val="FFFFFF"/>
        </a:accent3>
        <a:accent4>
          <a:srgbClr val="000000"/>
        </a:accent4>
        <a:accent5>
          <a:srgbClr val="FCABAA"/>
        </a:accent5>
        <a:accent6>
          <a:srgbClr val="002A53"/>
        </a:accent6>
        <a:hlink>
          <a:srgbClr val="81A7CD"/>
        </a:hlink>
        <a:folHlink>
          <a:srgbClr val="EDEDE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trag 1302 2">
        <a:dk1>
          <a:srgbClr val="808080"/>
        </a:dk1>
        <a:lt1>
          <a:srgbClr val="FFFFFF"/>
        </a:lt1>
        <a:dk2>
          <a:srgbClr val="00257E"/>
        </a:dk2>
        <a:lt2>
          <a:srgbClr val="FFFFFF"/>
        </a:lt2>
        <a:accent1>
          <a:srgbClr val="FA1914"/>
        </a:accent1>
        <a:accent2>
          <a:srgbClr val="FFFFFF"/>
        </a:accent2>
        <a:accent3>
          <a:srgbClr val="AAACC0"/>
        </a:accent3>
        <a:accent4>
          <a:srgbClr val="DADADA"/>
        </a:accent4>
        <a:accent5>
          <a:srgbClr val="FCABAA"/>
        </a:accent5>
        <a:accent6>
          <a:srgbClr val="E7E7E7"/>
        </a:accent6>
        <a:hlink>
          <a:srgbClr val="81A7CD"/>
        </a:hlink>
        <a:folHlink>
          <a:srgbClr val="EDEDE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A50033-979E-410F-A4B0-F7CF18626BC8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1037</TotalTime>
  <Pages>1</Pages>
  <Words>1059</Words>
  <Application>Microsoft Office PowerPoint</Application>
  <PresentationFormat>A4 Paper (210x297 mm)</PresentationFormat>
  <Paragraphs>165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SimSun</vt:lpstr>
      <vt:lpstr>Arial</vt:lpstr>
      <vt:lpstr>Google Sans Text</vt:lpstr>
      <vt:lpstr>Verdana</vt:lpstr>
      <vt:lpstr>Wingdings</vt:lpstr>
      <vt:lpstr>8_Vortrag 1302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 Duisburg-Essen, SRS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0</dc:title>
  <dc:creator>Jackson Njiri</dc:creator>
  <cp:lastModifiedBy>Glenn Gatiba</cp:lastModifiedBy>
  <cp:revision>3790</cp:revision>
  <cp:lastPrinted>2016-02-14T18:30:22Z</cp:lastPrinted>
  <dcterms:created xsi:type="dcterms:W3CDTF">2003-01-23T10:26:02Z</dcterms:created>
  <dcterms:modified xsi:type="dcterms:W3CDTF">2025-12-19T06:17:19Z</dcterms:modified>
</cp:coreProperties>
</file>